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FB7E0"/>
                </a:solidFill>
                <a:latin typeface="Calibri"/>
              </a:rPr>
              <a:t>KI- &amp; AUTOMATISIERUNGS-WORKSHOP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Zusammenfassung &amp; Potenzialanalyse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EC6E6"/>
                </a:solidFill>
                <a:latin typeface="Calibri"/>
              </a:rPr>
              <a:t>Ausgangslage · Automatisierungspotenziale · Kostenschätzung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389120"/>
            <a:ext cx="10515600" cy="155448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Kunde:        {{Kunde / Unternehmen}}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Bereiche:     {{betroffene Bereiche / Prozesse}}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Datum:        {{Datum}}        Erstellt von: BC2 — Strategic Advisor (Autonomous CoE Factory)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D9F2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Inhalt des Workshops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097280" cy="1097280"/>
          </a:xfrm>
          <a:prstGeom prst="round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1463040"/>
            <a:ext cx="98755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09344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4C81"/>
                </a:solidFill>
                <a:latin typeface="Calibri"/>
              </a:rPr>
              <a:t>Ausgangslage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29968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Zusammenfassung der aktuellen Situation: Unternehmen, Systeme, Herausforderungen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097280" cy="1097280"/>
          </a:xfrm>
          <a:prstGeom prst="roundRect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2880360"/>
            <a:ext cx="98755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026664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885E"/>
                </a:solidFill>
                <a:latin typeface="Calibri"/>
              </a:rPr>
              <a:t>Automatisierungspotenziale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447288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Erkannte Potenziale, Beschreibung &amp; Impact, Priorisierung (Komplexität × Impact)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097280" cy="10972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4297680"/>
            <a:ext cx="98755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443984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67E22"/>
                </a:solidFill>
                <a:latin typeface="Calibri"/>
              </a:rPr>
              <a:t>Kostenschätzung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864608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Investitionsrahmen je Potenzial und erwarteter Nutzen / Amortisation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BC2 — Strategic Advisor · Automatisierungs-Workshop  |  {{Kunde}}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383280"/>
            <a:ext cx="2011680" cy="8229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3657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>
                <a:solidFill>
                  <a:srgbClr val="2E6BA8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Ausgangslage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FB9D6"/>
                </a:solidFill>
                <a:latin typeface="Calibri"/>
              </a:rPr>
              <a:t>Zusammenfassung der aktuellen Situation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D9F2"/>
                </a:solidFill>
                <a:latin typeface="Calibri"/>
              </a:rPr>
              <a:t>01 · AUSGANGSLAGE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Das Unternehmen — Daten &amp; Fakten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864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0" cy="502920"/>
          </a:xfrm>
          <a:prstGeom prst="round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UNTERNEHMEN &amp;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5120640" cy="123444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{{Branche, Größe, Mitarbeitende,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Teamstruktur}}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864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9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486400" cy="502920"/>
          </a:xfrm>
          <a:prstGeom prst="round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KUNDEN &amp; VOLUMEN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57400"/>
            <a:ext cx="5120640" cy="123444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{{Mandanten/Kunden, Fallzahlen,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typische Größenordnungen}}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66160"/>
            <a:ext cx="54864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5486400" cy="502920"/>
          </a:xfrm>
          <a:prstGeom prst="roundRect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MARKT &amp; ZIELE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5120640" cy="123444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{{Marktumfeld, Wettbewerb,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strategische Ziele}}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66160"/>
            <a:ext cx="54864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566160"/>
            <a:ext cx="5486400" cy="50292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SYSTEMLANDSCHAFT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251960"/>
            <a:ext cx="5120640" cy="123444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{{Kernsystem, angebundene Tools,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Schnittstellen, Reifegrad}}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BC2 — Strategic Advisor · Automatisierungs-Workshop  |  {{Kunde}}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D9F2"/>
                </a:solidFill>
                <a:latin typeface="Calibri"/>
              </a:rPr>
              <a:t>01 · AUSGANGSLAGE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Zentrale Herausforderungen &amp; Kausalkette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4C81"/>
                </a:solidFill>
                <a:latin typeface="Calibri"/>
              </a:rPr>
              <a:t>Zentrale Herausforderungen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486400" cy="54864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{{Herausforderung 1 — kurz mit Kennzahl}}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58568"/>
            <a:ext cx="5486400" cy="54864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{{Herausforderung 2 — kurz mit Kennzahl}}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16936"/>
            <a:ext cx="5486400" cy="54864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{{Herausforderung 3 — kurz mit Kennzahl}}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75304"/>
            <a:ext cx="5486400" cy="54864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{{Herausforderung 4 — kurz mit Kennzahl}}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1887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Kausalkette: Last → verschenkter Ertrag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00200"/>
            <a:ext cx="5349240" cy="548640"/>
          </a:xfrm>
          <a:prstGeom prst="round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URSACHEN:  {{...}}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258568"/>
            <a:ext cx="5349240" cy="54864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ENGPASS:  {{...}}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916936"/>
            <a:ext cx="5349240" cy="5486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SINKENDE WIRKUNG:  {{...}}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575304"/>
            <a:ext cx="5349240" cy="548640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VERSCHENKTER ERTRAG / RISIKO:  {{...}}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43400"/>
            <a:ext cx="11201400" cy="1417320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ANSATZPUNKT / KERN-ZUSAMMENFASSUNG: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{{Ein bis zwei Sätze: größter Hebel, worauf BC2 die Empfehlung stützt.}}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BC2 — Strategic Advisor · Automatisierungs-Workshop  |  {{Kunde}}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383280"/>
            <a:ext cx="2011680" cy="8229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3657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>
                <a:solidFill>
                  <a:srgbClr val="2E6BA8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Automatisierungspotenziale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FB9D6"/>
                </a:solidFill>
                <a:latin typeface="Calibri"/>
              </a:rPr>
              <a:t>Erkennung, Bewertung &amp; Priorisierung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D9F2"/>
                </a:solidFill>
                <a:latin typeface="Calibri"/>
              </a:rPr>
              <a:t>02 · POTENZIALE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Überblick: erkannte Potenziale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Von BC2 aus dem Prozessprofil erkannt — pro Kachel ein Potenzial: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65760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8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667512" y="1856232"/>
            <a:ext cx="502920" cy="502920"/>
          </a:xfrm>
          <a:prstGeom prst="ellipse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745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885E"/>
                </a:solidFill>
                <a:latin typeface="Calibri"/>
              </a:rPr>
              <a:t>{{Potenzial 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0487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{{Kurzbeschreibung}}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1" y="1691640"/>
            <a:ext cx="365760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8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4489703" y="1856232"/>
            <a:ext cx="502920" cy="502920"/>
          </a:xfrm>
          <a:prstGeom prst="ellipse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1" y="18745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885E"/>
                </a:solidFill>
                <a:latin typeface="Calibri"/>
              </a:rPr>
              <a:t>{{Potenzial 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1" y="240487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{{Kurzbeschreibung}}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2" y="1691640"/>
            <a:ext cx="365760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8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8311894" y="1856232"/>
            <a:ext cx="502920" cy="502920"/>
          </a:xfrm>
          <a:prstGeom prst="ellipse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2" y="18745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885E"/>
                </a:solidFill>
                <a:latin typeface="Calibri"/>
              </a:rPr>
              <a:t>{{Potenzial 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2" y="240487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{{Kurzbeschreibung}}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08960"/>
            <a:ext cx="365760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8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667512" y="3273552"/>
            <a:ext cx="502920" cy="502920"/>
          </a:xfrm>
          <a:prstGeom prst="ellipse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2918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885E"/>
                </a:solidFill>
                <a:latin typeface="Calibri"/>
              </a:rPr>
              <a:t>{{Potenzial 4}}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22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{{Kurzbeschreibung}}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1" y="3108960"/>
            <a:ext cx="365760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8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4489703" y="3273552"/>
            <a:ext cx="502920" cy="502920"/>
          </a:xfrm>
          <a:prstGeom prst="ellipse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1" y="32918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885E"/>
                </a:solidFill>
                <a:latin typeface="Calibri"/>
              </a:rPr>
              <a:t>{{Potenzial 5}}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1" y="3822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{{Kurzbeschreibung}}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47302" y="3108960"/>
            <a:ext cx="365760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8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8311894" y="3273552"/>
            <a:ext cx="502920" cy="502920"/>
          </a:xfrm>
          <a:prstGeom prst="ellipse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4542" y="32918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885E"/>
                </a:solidFill>
                <a:latin typeface="Calibri"/>
              </a:rPr>
              <a:t>{{Potenzial 6}}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2" y="3822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{{Kurzbeschreibung}}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6634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B7B"/>
                </a:solidFill>
                <a:latin typeface="Calibri"/>
              </a:rPr>
              <a:t>Leitprinzip: 80/20 + Mensch-im-Prozess — massive Beschleunigung bei voller Kontrolle.  (Kacheln nach Bedarf duplizieren)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BC2 — Strategic Advisor · Automatisierungs-Workshop  |  {{Kunde}}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D9F2"/>
                </a:solidFill>
                <a:latin typeface="Calibri"/>
              </a:rPr>
              <a:t>02 · PRIORISIERUNG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Priorisierungsmatrix: Komplexität ×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4C81"/>
                </a:solidFill>
                <a:latin typeface="Calibri"/>
              </a:rPr>
              <a:t>Bewertung je Potenzial (sortiert nach Priorität)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731520" cy="384048"/>
          </a:xfrm>
          <a:prstGeom prst="roundRect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554480"/>
            <a:ext cx="2743200" cy="384048"/>
          </a:xfrm>
          <a:prstGeom prst="roundRect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Potenzial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554480"/>
            <a:ext cx="1188720" cy="384048"/>
          </a:xfrm>
          <a:prstGeom prst="roundRect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Kompl. 1-10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554480"/>
            <a:ext cx="1188720" cy="384048"/>
          </a:xfrm>
          <a:prstGeom prst="roundRect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Impact 1-10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75104"/>
            <a:ext cx="73152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1A1A2E"/>
                </a:solidFill>
                <a:latin typeface="Calibri"/>
              </a:rPr>
              <a:t>{{#}}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1975104"/>
            <a:ext cx="274320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{{Potenzial}}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975104"/>
            <a:ext cx="118872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{{K}}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975104"/>
            <a:ext cx="118872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{{I}}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95728"/>
            <a:ext cx="731520" cy="40233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1A1A2E"/>
                </a:solidFill>
                <a:latin typeface="Calibri"/>
              </a:rPr>
              <a:t>{{#}}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2395728"/>
            <a:ext cx="2743200" cy="40233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{{Potenzial}}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2395728"/>
            <a:ext cx="1188720" cy="40233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{{K}}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2395728"/>
            <a:ext cx="1188720" cy="40233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{{I}}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16352"/>
            <a:ext cx="73152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1A1A2E"/>
                </a:solidFill>
                <a:latin typeface="Calibri"/>
              </a:rPr>
              <a:t>{{#}}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2816352"/>
            <a:ext cx="274320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{{Potenzial}}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2816352"/>
            <a:ext cx="118872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{{K}}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2816352"/>
            <a:ext cx="118872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{{I}}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236976"/>
            <a:ext cx="731520" cy="40233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1A1A2E"/>
                </a:solidFill>
                <a:latin typeface="Calibri"/>
              </a:rPr>
              <a:t>{{#}}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3236976"/>
            <a:ext cx="2743200" cy="40233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{{Potenzial}}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3236976"/>
            <a:ext cx="1188720" cy="40233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{{K}}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3236976"/>
            <a:ext cx="1188720" cy="40233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{{I}}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657600"/>
            <a:ext cx="73152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1A1A2E"/>
                </a:solidFill>
                <a:latin typeface="Calibri"/>
              </a:rPr>
              <a:t>{{#}}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3657600"/>
            <a:ext cx="274320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{{Potenzial}}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9080" y="3657600"/>
            <a:ext cx="118872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{{K}}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3657600"/>
            <a:ext cx="118872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{{I}}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078224"/>
            <a:ext cx="731520" cy="40233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1A1A2E"/>
                </a:solidFill>
                <a:latin typeface="Calibri"/>
              </a:rPr>
              <a:t>{{#}}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80160" y="4078224"/>
            <a:ext cx="2743200" cy="40233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{{Potenzial}}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69080" y="4078224"/>
            <a:ext cx="1188720" cy="40233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{{K}}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4078224"/>
            <a:ext cx="1188720" cy="40233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{{I}}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0" y="1554480"/>
            <a:ext cx="4846320" cy="42062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160020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B7B"/>
                </a:solidFill>
                <a:latin typeface="Calibri"/>
              </a:rPr>
              <a:t>  hoher Impact 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46811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  Umsetzungskomplexität  (gering → hoch) 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2011680"/>
            <a:ext cx="2011680" cy="1554480"/>
          </a:xfrm>
          <a:prstGeom prst="roundRect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★ ZUERST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Quick Wins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{{Potenziale}}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2011680"/>
            <a:ext cx="2011680" cy="1554480"/>
          </a:xfrm>
          <a:prstGeom prst="round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Strategisch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{{Potenziale}}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3749040"/>
            <a:ext cx="2011680" cy="1463040"/>
          </a:xfrm>
          <a:prstGeom prst="round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Geringer Hebel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{{Potenziale}}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5440" y="3749040"/>
            <a:ext cx="2011680" cy="146304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Long Bet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{{Potenziale}}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BC2 — Strategic Advisor · Automatisierungs-Workshop  |  {{Kunde}}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D9F2"/>
                </a:solidFill>
                <a:latin typeface="Calibri"/>
              </a:rPr>
              <a:t>02 · POTENZIAL · BEWERTUNG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{{Nr}}  {{Titel des Potenzials}}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74320"/>
            <a:ext cx="182880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{{Phase}}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4C81"/>
                </a:solidFill>
                <a:latin typeface="Calibri"/>
              </a:rPr>
              <a:t>HEUTIGER PROZESS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577840" cy="169164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{{Wie läuft es heute? Aufwand, Fehlerquote,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Frequenz — aus BC1-Prozessprofil}}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885E"/>
                </a:solidFill>
                <a:latin typeface="Calibri"/>
              </a:rPr>
              <a:t>AUTOMATISIERUNGSPOTENZIAL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49039"/>
            <a:ext cx="5577840" cy="182880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{{Was wird automatisiert, in welchen Stufen,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mit welchem Ergebnis. Human-in-the-Loop.}}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534924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4C81"/>
                </a:solidFill>
                <a:latin typeface="Calibri"/>
              </a:rPr>
              <a:t>MANUELLER AUFWAND HEUTE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3852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{{gering | mittel | hoch | sehr hoch}}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423160"/>
            <a:ext cx="534924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8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4963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885E"/>
                </a:solidFill>
                <a:latin typeface="Calibri"/>
              </a:rPr>
              <a:t>EINSPARPOTENZIAL /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0720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{{gering | mittel | hoch | sehr hoch}}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91840"/>
            <a:ext cx="534924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36499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  <a:latin typeface="Calibri"/>
              </a:rPr>
              <a:t>UMSETZUNGSKOMPLEXITÄT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67588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{{gering | mittel | hoch | sehr hoch}}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206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A6B7B"/>
                </a:solidFill>
                <a:latin typeface="Calibri"/>
              </a:rPr>
              <a:t>VORAUSSETZUNGEN / POTENZIELLE LÖSUNG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526280"/>
            <a:ext cx="5349240" cy="105156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{{Was ist zu klären? Empfohlener Lösungsweg.}}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150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6B7B"/>
                </a:solidFill>
                <a:latin typeface="Calibri"/>
              </a:rPr>
              <a:t>↻ Diese Detail-Folie pro erkanntem Potenzial duplizieren.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BC2 — Strategic Advisor · Automatisierungs-Workshop  |  {{Kunde}}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383280"/>
            <a:ext cx="2011680" cy="8229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3657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>
                <a:solidFill>
                  <a:srgbClr val="2E6BA8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Kostenschätzung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FB9D6"/>
                </a:solidFill>
                <a:latin typeface="Calibri"/>
              </a:rPr>
              <a:t>Investitionsrahmen &amp; erwarteter Nutzen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D9F2"/>
                </a:solidFill>
                <a:latin typeface="Calibri"/>
              </a:rPr>
              <a:t>03 · KOSTENSCHÄTZUNG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Investitionslogik &amp; erwarteter Nutzen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4864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86400" cy="502920"/>
          </a:xfrm>
          <a:prstGeom prst="round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KOSTENLOGIK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5120640" cy="123444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{{Kalkulationsbasis (z. B. Tagessatz),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Festpreis je Maßnahme, kleines vs.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großes LLM}}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864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9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486400" cy="502920"/>
          </a:xfrm>
          <a:prstGeom prst="round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LAUFENDE KOSTEN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11680"/>
            <a:ext cx="5120640" cy="123444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{{LLM-/Token-Nutzung,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Infrastruktur, Hosting}}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20440"/>
            <a:ext cx="54864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0440"/>
            <a:ext cx="5486400" cy="502920"/>
          </a:xfrm>
          <a:prstGeom prst="roundRect">
            <a:avLst/>
          </a:prstGeom>
          <a:solidFill>
            <a:srgbClr val="1E8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ERWARTETER NUTZEN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06240"/>
            <a:ext cx="5120640" cy="123444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{{Zeitersparnis, Fehlerreduktion,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höherer Ertrag — je Potenzial}}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40"/>
            <a:ext cx="54864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520440"/>
            <a:ext cx="5486400" cy="50292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DER EIGENTLICHE HEBEL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206240"/>
            <a:ext cx="5120640" cy="123444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{{Skalierung &amp; Zukunftssicherheit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über reine Zeitersparnis hinaus}}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BC2 — Strategic Advisor · Automatisierungs-Workshop  |  {{Kunde}}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D9F2"/>
                </a:solidFill>
                <a:latin typeface="Calibri"/>
              </a:rPr>
              <a:t>03 · KOSTENSCHÄTZUNG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Investition je Potenzial (Überblick)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73152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371600"/>
            <a:ext cx="310896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Potenzial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137160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371600"/>
            <a:ext cx="256032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Investition (Richtwert)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371600"/>
            <a:ext cx="342900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Erwarteter Nutzen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47088"/>
            <a:ext cx="73152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1A1A2E"/>
                </a:solidFill>
                <a:latin typeface="Calibri"/>
              </a:rPr>
              <a:t>{{#}}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1847088"/>
            <a:ext cx="310896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{{Potenzial}}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47088"/>
            <a:ext cx="137160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{{Phase}}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847088"/>
            <a:ext cx="256032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{{€ von–bis}}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847088"/>
            <a:ext cx="342900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{{Nutzen}}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359152"/>
            <a:ext cx="73152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1A1A2E"/>
                </a:solidFill>
                <a:latin typeface="Calibri"/>
              </a:rPr>
              <a:t>{{#}}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2359152"/>
            <a:ext cx="310896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{{Potenzial}}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359152"/>
            <a:ext cx="137160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{{Phase}}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2359152"/>
            <a:ext cx="256032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{{€ von–bis}}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2359152"/>
            <a:ext cx="342900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{{Nutzen}}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871216"/>
            <a:ext cx="73152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1A1A2E"/>
                </a:solidFill>
                <a:latin typeface="Calibri"/>
              </a:rPr>
              <a:t>{{#}}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2871216"/>
            <a:ext cx="310896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{{Potenzial}}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871216"/>
            <a:ext cx="137160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{{Phase}}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2871216"/>
            <a:ext cx="256032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{{€ von–bis}}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2871216"/>
            <a:ext cx="342900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{{Nutzen}}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383280"/>
            <a:ext cx="73152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1A1A2E"/>
                </a:solidFill>
                <a:latin typeface="Calibri"/>
              </a:rPr>
              <a:t>{{#}}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3383280"/>
            <a:ext cx="310896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{{Potenzial}}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383280"/>
            <a:ext cx="137160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{{Phase}}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0" y="3383280"/>
            <a:ext cx="256032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{{€ von–bis}}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58200" y="3383280"/>
            <a:ext cx="342900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{{Nutzen}}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895344"/>
            <a:ext cx="73152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1A1A2E"/>
                </a:solidFill>
                <a:latin typeface="Calibri"/>
              </a:rPr>
              <a:t>{{#}}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80160" y="3895344"/>
            <a:ext cx="310896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{{Potenzial}}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3895344"/>
            <a:ext cx="137160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{{Phase}}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3895344"/>
            <a:ext cx="256032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{{€ von–bis}}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58200" y="3895344"/>
            <a:ext cx="342900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{{Nutzen}}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407408"/>
            <a:ext cx="73152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1A1A2E"/>
                </a:solidFill>
                <a:latin typeface="Calibri"/>
              </a:rPr>
              <a:t>{{#}}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80160" y="4407408"/>
            <a:ext cx="310896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{{Potenzial}}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34840" y="4407408"/>
            <a:ext cx="137160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{{Phase}}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4407408"/>
            <a:ext cx="256032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{{€ von–bis}}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8200" y="4407408"/>
            <a:ext cx="3429000" cy="493776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{{Nutzen}}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919472"/>
            <a:ext cx="73152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1A1A2E"/>
                </a:solidFill>
                <a:latin typeface="Calibri"/>
              </a:rPr>
              <a:t>{{#}}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0160" y="4919472"/>
            <a:ext cx="310896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{{Potenzial}}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34840" y="4919472"/>
            <a:ext cx="137160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{{Phase}}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52160" y="4919472"/>
            <a:ext cx="256032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{{€ von–bis}}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58200" y="4919472"/>
            <a:ext cx="342900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{{Nutzen}}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* Richtwerte/Schätzungen auf Kalkulationsbasis — konkrete Festpreise nach Detaillierung. Werte von BC2 aus Value-Berechnung.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BC2 — Strategic Advisor · Automatisierungs-Workshop  |  {{Kunde}}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2011680" cy="8229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Vielen Dank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FDDEC"/>
                </a:solidFill>
                <a:latin typeface="Calibri"/>
              </a:rPr>
              <a:t>{{Kern-Botschaft: mehr Ertrag/Effizienz durch erkannte Automatisierungspotenziale —</a:t>
            </a:r>
          </a:p>
          <a:p>
            <a:pPr algn="l"/>
            <a:r>
              <a:rPr sz="1600" b="0">
                <a:solidFill>
                  <a:srgbClr val="CFDDEC"/>
                </a:solidFill>
                <a:latin typeface="Calibri"/>
              </a:rPr>
              <a:t>bei voller Kontrolle (Human-in-the-Loop) auf zukunftssicherer Architektur.}}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FB7E0"/>
                </a:solidFill>
                <a:latin typeface="Calibri"/>
              </a:rPr>
              <a:t>BC2 — Strategic Advisor · Autonomous CoE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