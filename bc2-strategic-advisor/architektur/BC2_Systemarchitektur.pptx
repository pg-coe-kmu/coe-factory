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7" roundtripDataSignature="AMtx7mj6I5CA1d2atls2e65UsI2Ra6mcI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customschemas.google.com/relationships/presentationmetadata" Target="meta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4160520"/>
            <a:ext cx="12191695" cy="73152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 txBox="1"/>
          <p:nvPr/>
        </p:nvSpPr>
        <p:spPr>
          <a:xfrm>
            <a:off x="822960" y="12801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8FB7E0"/>
                </a:solidFill>
                <a:latin typeface="Calibri"/>
                <a:ea typeface="Calibri"/>
                <a:cs typeface="Calibri"/>
                <a:sym typeface="Calibri"/>
              </a:rPr>
              <a:t>AUTONOMOUS CoE FACTORY · PG KI-CoE-KMU</a:t>
            </a:r>
            <a:endParaRPr/>
          </a:p>
        </p:txBody>
      </p:sp>
      <p:sp>
        <p:nvSpPr>
          <p:cNvPr id="87" name="Google Shape;87;p1"/>
          <p:cNvSpPr txBox="1"/>
          <p:nvPr/>
        </p:nvSpPr>
        <p:spPr>
          <a:xfrm>
            <a:off x="822960" y="1828800"/>
            <a:ext cx="105156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BC2 — Strategic Advisor</a:t>
            </a:r>
            <a:endParaRPr/>
          </a:p>
        </p:txBody>
      </p:sp>
      <p:sp>
        <p:nvSpPr>
          <p:cNvPr id="88" name="Google Shape;88;p1"/>
          <p:cNvSpPr txBox="1"/>
          <p:nvPr/>
        </p:nvSpPr>
        <p:spPr>
          <a:xfrm>
            <a:off x="822960" y="2926080"/>
            <a:ext cx="105156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EC6E6"/>
                </a:solidFill>
                <a:latin typeface="Calibri"/>
                <a:ea typeface="Calibri"/>
                <a:cs typeface="Calibri"/>
                <a:sym typeface="Calibri"/>
              </a:rPr>
              <a:t>Systemarchitektur v2</a:t>
            </a:r>
            <a:endParaRPr/>
          </a:p>
        </p:txBody>
      </p:sp>
      <p:sp>
        <p:nvSpPr>
          <p:cNvPr id="89" name="Google Shape;89;p1"/>
          <p:cNvSpPr txBox="1"/>
          <p:nvPr/>
        </p:nvSpPr>
        <p:spPr>
          <a:xfrm>
            <a:off x="822960" y="4389120"/>
            <a:ext cx="1060704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FDDEC"/>
                </a:solidFill>
                <a:latin typeface="Calibri"/>
                <a:ea typeface="Calibri"/>
                <a:cs typeface="Calibri"/>
                <a:sym typeface="Calibri"/>
              </a:rPr>
              <a:t>Ziel: Automatisierungspotenziale erkennen &amp; Value berechnen → Präsentation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FDDEC"/>
                </a:solidFill>
                <a:latin typeface="Calibri"/>
                <a:ea typeface="Calibri"/>
                <a:cs typeface="Calibri"/>
                <a:sym typeface="Calibri"/>
              </a:rPr>
              <a:t>Stack: n8n · Claude (Sonnet 4.6 / Opus 4.7) · PostgreSQL · FastAPI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CFDDEC"/>
                </a:solidFill>
                <a:latin typeface="Calibri"/>
                <a:ea typeface="Calibri"/>
                <a:cs typeface="Calibri"/>
                <a:sym typeface="Calibri"/>
              </a:rPr>
              <a:t>Team: Eike Bischof · Sergio Morazán Irias   |   Stand: 27.06.2026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2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0 · ZIELBILD</a:t>
            </a:r>
            <a:endParaRPr/>
          </a:p>
        </p:txBody>
      </p:sp>
      <p:sp>
        <p:nvSpPr>
          <p:cNvPr id="97" name="Google Shape;97;p2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Was BC2 produziert: eine entscheidungsreife Präsentation</a:t>
            </a:r>
            <a:endParaRPr/>
          </a:p>
        </p:txBody>
      </p:sp>
      <p:sp>
        <p:nvSpPr>
          <p:cNvPr id="98" name="Google Shape;98;p2"/>
          <p:cNvSpPr txBox="1"/>
          <p:nvPr/>
        </p:nvSpPr>
        <p:spPr>
          <a:xfrm>
            <a:off x="502920" y="128016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BC2 nimmt das Prozessprofil aus BC1 und erzeugt ein KIsult-artiges Workshop-Deck mit drei Teilen:</a:t>
            </a:r>
            <a:endParaRPr/>
          </a:p>
        </p:txBody>
      </p:sp>
      <p:sp>
        <p:nvSpPr>
          <p:cNvPr id="99" name="Google Shape;99;p2"/>
          <p:cNvSpPr/>
          <p:nvPr/>
        </p:nvSpPr>
        <p:spPr>
          <a:xfrm>
            <a:off x="502920" y="1965960"/>
            <a:ext cx="361188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0F4C8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2"/>
          <p:cNvSpPr/>
          <p:nvPr/>
        </p:nvSpPr>
        <p:spPr>
          <a:xfrm>
            <a:off x="731520" y="2194560"/>
            <a:ext cx="640080" cy="640080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01" name="Google Shape;101;p2"/>
          <p:cNvSpPr txBox="1"/>
          <p:nvPr/>
        </p:nvSpPr>
        <p:spPr>
          <a:xfrm>
            <a:off x="1508760" y="224028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F4C81"/>
                </a:solidFill>
                <a:latin typeface="Calibri"/>
                <a:ea typeface="Calibri"/>
                <a:cs typeface="Calibri"/>
                <a:sym typeface="Calibri"/>
              </a:rPr>
              <a:t>AUSGANGSLAGE</a:t>
            </a:r>
            <a:endParaRPr/>
          </a:p>
        </p:txBody>
      </p:sp>
      <p:sp>
        <p:nvSpPr>
          <p:cNvPr id="102" name="Google Shape;102;p2"/>
          <p:cNvSpPr txBox="1"/>
          <p:nvPr/>
        </p:nvSpPr>
        <p:spPr>
          <a:xfrm>
            <a:off x="777240" y="31546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Zusammenfassung der aktuellen Situation: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Unternehmen, Systeme, Prozesse,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Herausforderungen</a:t>
            </a:r>
            <a:endParaRPr/>
          </a:p>
        </p:txBody>
      </p:sp>
      <p:sp>
        <p:nvSpPr>
          <p:cNvPr id="103" name="Google Shape;103;p2"/>
          <p:cNvSpPr/>
          <p:nvPr/>
        </p:nvSpPr>
        <p:spPr>
          <a:xfrm>
            <a:off x="4251959" y="1965960"/>
            <a:ext cx="361188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E8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2"/>
          <p:cNvSpPr/>
          <p:nvPr/>
        </p:nvSpPr>
        <p:spPr>
          <a:xfrm>
            <a:off x="4480559" y="2194560"/>
            <a:ext cx="640080" cy="640080"/>
          </a:xfrm>
          <a:prstGeom prst="ellipse">
            <a:avLst/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05" name="Google Shape;105;p2"/>
          <p:cNvSpPr txBox="1"/>
          <p:nvPr/>
        </p:nvSpPr>
        <p:spPr>
          <a:xfrm>
            <a:off x="5257799" y="224028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885E"/>
                </a:solidFill>
                <a:latin typeface="Calibri"/>
                <a:ea typeface="Calibri"/>
                <a:cs typeface="Calibri"/>
                <a:sym typeface="Calibri"/>
              </a:rPr>
              <a:t>AUTOMATISIERUNGS-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E885E"/>
                </a:solidFill>
                <a:latin typeface="Calibri"/>
                <a:ea typeface="Calibri"/>
                <a:cs typeface="Calibri"/>
                <a:sym typeface="Calibri"/>
              </a:rPr>
              <a:t>POTENZIALE</a:t>
            </a:r>
            <a:endParaRPr/>
          </a:p>
        </p:txBody>
      </p:sp>
      <p:sp>
        <p:nvSpPr>
          <p:cNvPr id="106" name="Google Shape;106;p2"/>
          <p:cNvSpPr txBox="1"/>
          <p:nvPr/>
        </p:nvSpPr>
        <p:spPr>
          <a:xfrm>
            <a:off x="4526279" y="31546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Erkannte Potenziale je mit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Beschreibung + IMPACT, Aufwand-heute,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Komplexität, Priorisierung</a:t>
            </a:r>
            <a:endParaRPr/>
          </a:p>
        </p:txBody>
      </p:sp>
      <p:sp>
        <p:nvSpPr>
          <p:cNvPr id="107" name="Google Shape;107;p2"/>
          <p:cNvSpPr/>
          <p:nvPr/>
        </p:nvSpPr>
        <p:spPr>
          <a:xfrm>
            <a:off x="8000998" y="1965960"/>
            <a:ext cx="3611880" cy="2468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E67E2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2"/>
          <p:cNvSpPr/>
          <p:nvPr/>
        </p:nvSpPr>
        <p:spPr>
          <a:xfrm>
            <a:off x="8229598" y="2194560"/>
            <a:ext cx="640080" cy="64008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09" name="Google Shape;109;p2"/>
          <p:cNvSpPr txBox="1"/>
          <p:nvPr/>
        </p:nvSpPr>
        <p:spPr>
          <a:xfrm>
            <a:off x="9006838" y="2240280"/>
            <a:ext cx="246888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KOSTENSCHÄTZUNG</a:t>
            </a:r>
            <a:endParaRPr/>
          </a:p>
        </p:txBody>
      </p:sp>
      <p:sp>
        <p:nvSpPr>
          <p:cNvPr id="110" name="Google Shape;110;p2"/>
          <p:cNvSpPr txBox="1"/>
          <p:nvPr/>
        </p:nvSpPr>
        <p:spPr>
          <a:xfrm>
            <a:off x="8275318" y="3154680"/>
            <a:ext cx="31089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Investitionsrahmen je Potenzial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(Richtwert) + erwarteter Nutzen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Amortisation</a:t>
            </a:r>
            <a:endParaRPr/>
          </a:p>
        </p:txBody>
      </p:sp>
      <p:sp>
        <p:nvSpPr>
          <p:cNvPr id="111" name="Google Shape;111;p2"/>
          <p:cNvSpPr/>
          <p:nvPr/>
        </p:nvSpPr>
        <p:spPr>
          <a:xfrm>
            <a:off x="502920" y="4754880"/>
            <a:ext cx="11155680" cy="1325880"/>
          </a:xfrm>
          <a:prstGeom prst="roundRect">
            <a:avLst>
              <a:gd fmla="val 16667" name="adj"/>
            </a:avLst>
          </a:prstGeom>
          <a:solidFill>
            <a:srgbClr val="E4F3EA"/>
          </a:solidFill>
          <a:ln cap="flat" cmpd="sng" w="9525">
            <a:solidFill>
              <a:srgbClr val="1E8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KEIN fester Musterkatalog mehr:  BC2 ordnet nicht vorgegebene Automatisierungs-MUSTER zu, sondern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ERKENNT Potenziale aus dem konkreten Prozess und BERECHNET deren möglichen Value.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ersetzt die ursprüngliche Pattern-Matching-Engine + Qdrant.   Parallel: maschinenlesbares konzept.json an BC3.</a:t>
            </a:r>
            <a:endParaRPr/>
          </a:p>
        </p:txBody>
      </p:sp>
      <p:sp>
        <p:nvSpPr>
          <p:cNvPr id="112" name="Google Shape;112;p2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BC2 — Strategic Advisor · Systemarchitektur v2</a:t>
            </a:r>
            <a:endParaRPr/>
          </a:p>
        </p:txBody>
      </p:sp>
      <p:sp>
        <p:nvSpPr>
          <p:cNvPr id="113" name="Google Shape;113;p2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1 · CONTEXT VIEW</a:t>
            </a:r>
            <a:endParaRPr/>
          </a:p>
        </p:txBody>
      </p:sp>
      <p:sp>
        <p:nvSpPr>
          <p:cNvPr id="121" name="Google Shape;121;p3"/>
          <p:cNvSpPr txBox="1"/>
          <p:nvPr/>
        </p:nvSpPr>
        <p:spPr>
          <a:xfrm>
            <a:off x="502920" y="384048"/>
            <a:ext cx="11155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Einordnung — </a:t>
            </a: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BC2</a:t>
            </a:r>
            <a:endParaRPr/>
          </a:p>
        </p:txBody>
      </p:sp>
      <p:sp>
        <p:nvSpPr>
          <p:cNvPr id="122" name="Google Shape;122;p3"/>
          <p:cNvSpPr/>
          <p:nvPr/>
        </p:nvSpPr>
        <p:spPr>
          <a:xfrm>
            <a:off x="1508830" y="2423873"/>
            <a:ext cx="1645800" cy="12801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 0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Datenqualität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BC1/Platform</a:t>
            </a:r>
            <a:endParaRPr/>
          </a:p>
        </p:txBody>
      </p:sp>
      <p:sp>
        <p:nvSpPr>
          <p:cNvPr id="123" name="Google Shape;123;p3"/>
          <p:cNvSpPr/>
          <p:nvPr/>
        </p:nvSpPr>
        <p:spPr>
          <a:xfrm>
            <a:off x="3566230" y="2606753"/>
            <a:ext cx="2469000" cy="914400"/>
          </a:xfrm>
          <a:prstGeom prst="roundRect">
            <a:avLst>
              <a:gd fmla="val 16667" name="adj"/>
            </a:avLst>
          </a:prstGeom>
          <a:solidFill>
            <a:srgbClr val="0F4C81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BC2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Strategic Advisor</a:t>
            </a:r>
            <a:endParaRPr/>
          </a:p>
        </p:txBody>
      </p:sp>
      <p:sp>
        <p:nvSpPr>
          <p:cNvPr id="124" name="Google Shape;124;p3"/>
          <p:cNvSpPr/>
          <p:nvPr/>
        </p:nvSpPr>
        <p:spPr>
          <a:xfrm>
            <a:off x="6446590" y="2423873"/>
            <a:ext cx="1554600" cy="1280100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6C3AD6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Business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Approval</a:t>
            </a:r>
            <a:endParaRPr/>
          </a:p>
        </p:txBody>
      </p:sp>
      <p:sp>
        <p:nvSpPr>
          <p:cNvPr id="125" name="Google Shape;125;p3"/>
          <p:cNvSpPr/>
          <p:nvPr/>
        </p:nvSpPr>
        <p:spPr>
          <a:xfrm>
            <a:off x="8412550" y="2606753"/>
            <a:ext cx="2103000" cy="914400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BC3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Engineering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Architect</a:t>
            </a:r>
            <a:endParaRPr/>
          </a:p>
        </p:txBody>
      </p:sp>
      <p:sp>
        <p:nvSpPr>
          <p:cNvPr id="126" name="Google Shape;126;p3"/>
          <p:cNvSpPr/>
          <p:nvPr/>
        </p:nvSpPr>
        <p:spPr>
          <a:xfrm>
            <a:off x="6583750" y="4252673"/>
            <a:ext cx="1280100" cy="640200"/>
          </a:xfrm>
          <a:prstGeom prst="ellipse">
            <a:avLst/>
          </a:prstGeom>
          <a:solidFill>
            <a:srgbClr val="129C9C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CoE-Manager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(HitL)</a:t>
            </a:r>
            <a:endParaRPr/>
          </a:p>
        </p:txBody>
      </p:sp>
      <p:cxnSp>
        <p:nvCxnSpPr>
          <p:cNvPr id="127" name="Google Shape;127;p3"/>
          <p:cNvCxnSpPr/>
          <p:nvPr/>
        </p:nvCxnSpPr>
        <p:spPr>
          <a:xfrm>
            <a:off x="3154750" y="3063953"/>
            <a:ext cx="411600" cy="0"/>
          </a:xfrm>
          <a:prstGeom prst="straightConnector1">
            <a:avLst/>
          </a:prstGeom>
          <a:noFill/>
          <a:ln cap="flat" cmpd="sng" w="25400">
            <a:solidFill>
              <a:srgbClr val="2E86D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8" name="Google Shape;128;p3"/>
          <p:cNvCxnSpPr/>
          <p:nvPr/>
        </p:nvCxnSpPr>
        <p:spPr>
          <a:xfrm>
            <a:off x="6035110" y="3063953"/>
            <a:ext cx="411600" cy="0"/>
          </a:xfrm>
          <a:prstGeom prst="straightConnector1">
            <a:avLst/>
          </a:prstGeom>
          <a:noFill/>
          <a:ln cap="flat" cmpd="sng" w="25400">
            <a:solidFill>
              <a:srgbClr val="2E86D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29" name="Google Shape;129;p3"/>
          <p:cNvCxnSpPr/>
          <p:nvPr/>
        </p:nvCxnSpPr>
        <p:spPr>
          <a:xfrm>
            <a:off x="8001070" y="3063953"/>
            <a:ext cx="411600" cy="0"/>
          </a:xfrm>
          <a:prstGeom prst="straightConnector1">
            <a:avLst/>
          </a:prstGeom>
          <a:noFill/>
          <a:ln cap="flat" cmpd="sng" w="25400">
            <a:solidFill>
              <a:srgbClr val="2E86DE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30" name="Google Shape;130;p3"/>
          <p:cNvCxnSpPr/>
          <p:nvPr/>
        </p:nvCxnSpPr>
        <p:spPr>
          <a:xfrm rot="10800000">
            <a:off x="7223830" y="3703973"/>
            <a:ext cx="0" cy="548700"/>
          </a:xfrm>
          <a:prstGeom prst="straightConnector1">
            <a:avLst/>
          </a:prstGeom>
          <a:noFill/>
          <a:ln cap="flat" cmpd="sng" w="19050">
            <a:solidFill>
              <a:srgbClr val="129C9C"/>
            </a:solidFill>
            <a:prstDash val="dash"/>
            <a:round/>
            <a:headEnd len="sm" w="sm" type="none"/>
            <a:tailEnd len="med" w="med" type="triangle"/>
          </a:ln>
        </p:spPr>
      </p:cxnSp>
      <p:sp>
        <p:nvSpPr>
          <p:cNvPr id="131" name="Google Shape;131;p3"/>
          <p:cNvSpPr txBox="1"/>
          <p:nvPr/>
        </p:nvSpPr>
        <p:spPr>
          <a:xfrm>
            <a:off x="1463110" y="3749753"/>
            <a:ext cx="18288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bc1.profile.ready</a:t>
            </a:r>
            <a:endParaRPr/>
          </a:p>
        </p:txBody>
      </p:sp>
      <p:sp>
        <p:nvSpPr>
          <p:cNvPr id="132" name="Google Shape;132;p3"/>
          <p:cNvSpPr txBox="1"/>
          <p:nvPr/>
        </p:nvSpPr>
        <p:spPr>
          <a:xfrm>
            <a:off x="5760790" y="3749753"/>
            <a:ext cx="2377500" cy="23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konzept.json + Präsentation</a:t>
            </a:r>
            <a:endParaRPr/>
          </a:p>
        </p:txBody>
      </p:sp>
      <p:sp>
        <p:nvSpPr>
          <p:cNvPr id="133" name="Google Shape;133;p3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BC2 — Strategic Advisor · Systemarchitektur v2</a:t>
            </a:r>
            <a:endParaRPr/>
          </a:p>
        </p:txBody>
      </p:sp>
      <p:sp>
        <p:nvSpPr>
          <p:cNvPr id="134" name="Google Shape;134;p3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2 · COMPONENT VIEW</a:t>
            </a:r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Komponentenarchitektur innerhalb BC2</a:t>
            </a:r>
            <a:endParaRPr/>
          </a:p>
        </p:txBody>
      </p:sp>
      <p:sp>
        <p:nvSpPr>
          <p:cNvPr id="143" name="Google Shape;143;p4"/>
          <p:cNvSpPr/>
          <p:nvPr/>
        </p:nvSpPr>
        <p:spPr>
          <a:xfrm>
            <a:off x="365760" y="1417320"/>
            <a:ext cx="2743200" cy="22860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2700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F4C81"/>
                </a:solidFill>
                <a:latin typeface="Calibri"/>
                <a:ea typeface="Calibri"/>
                <a:cs typeface="Calibri"/>
                <a:sym typeface="Calibri"/>
              </a:rPr>
              <a:t>API &amp; EINGANG (FastAPI)</a:t>
            </a:r>
            <a:endParaRPr/>
          </a:p>
        </p:txBody>
      </p:sp>
      <p:sp>
        <p:nvSpPr>
          <p:cNvPr id="144" name="Google Shape;144;p4"/>
          <p:cNvSpPr/>
          <p:nvPr/>
        </p:nvSpPr>
        <p:spPr>
          <a:xfrm>
            <a:off x="502920" y="1783080"/>
            <a:ext cx="2468880" cy="548640"/>
          </a:xfrm>
          <a:prstGeom prst="roundRect">
            <a:avLst>
              <a:gd fmla="val 16667" name="adj"/>
            </a:avLst>
          </a:prstGeom>
          <a:solidFill>
            <a:srgbClr val="0F4C81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REST-Endpunkte</a:t>
            </a:r>
            <a:endParaRPr/>
          </a:p>
        </p:txBody>
      </p:sp>
      <p:sp>
        <p:nvSpPr>
          <p:cNvPr id="145" name="Google Shape;145;p4"/>
          <p:cNvSpPr/>
          <p:nvPr/>
        </p:nvSpPr>
        <p:spPr>
          <a:xfrm>
            <a:off x="502920" y="2395728"/>
            <a:ext cx="2468880" cy="548640"/>
          </a:xfrm>
          <a:prstGeom prst="roundRect">
            <a:avLst>
              <a:gd fmla="val 16667" name="adj"/>
            </a:avLst>
          </a:prstGeom>
          <a:solidFill>
            <a:srgbClr val="2E86D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Event-Sub · bc1.profile.ready</a:t>
            </a:r>
            <a:endParaRPr/>
          </a:p>
        </p:txBody>
      </p:sp>
      <p:sp>
        <p:nvSpPr>
          <p:cNvPr id="146" name="Google Shape;146;p4"/>
          <p:cNvSpPr/>
          <p:nvPr/>
        </p:nvSpPr>
        <p:spPr>
          <a:xfrm>
            <a:off x="502920" y="3017520"/>
            <a:ext cx="2468880" cy="548640"/>
          </a:xfrm>
          <a:prstGeom prst="roundRect">
            <a:avLst>
              <a:gd fmla="val 16667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Input-Validator (defensiv)</a:t>
            </a:r>
            <a:endParaRPr/>
          </a:p>
        </p:txBody>
      </p:sp>
      <p:sp>
        <p:nvSpPr>
          <p:cNvPr id="147" name="Google Shape;147;p4"/>
          <p:cNvSpPr/>
          <p:nvPr/>
        </p:nvSpPr>
        <p:spPr>
          <a:xfrm>
            <a:off x="3291840" y="1417320"/>
            <a:ext cx="2194560" cy="22860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2700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29C9C"/>
                </a:solidFill>
                <a:latin typeface="Calibri"/>
                <a:ea typeface="Calibri"/>
                <a:cs typeface="Calibri"/>
                <a:sym typeface="Calibri"/>
              </a:rPr>
              <a:t>ORCHESTRIERUNG (n8n/lan</a:t>
            </a:r>
            <a:r>
              <a:rPr b="1" lang="en-US" sz="1100">
                <a:solidFill>
                  <a:srgbClr val="129C9C"/>
                </a:solidFill>
                <a:latin typeface="Calibri"/>
                <a:ea typeface="Calibri"/>
                <a:cs typeface="Calibri"/>
                <a:sym typeface="Calibri"/>
              </a:rPr>
              <a:t>ngchain</a:t>
            </a:r>
            <a:r>
              <a:rPr b="1" i="0" lang="en-US" sz="1100" u="none" cap="none" strike="noStrike">
                <a:solidFill>
                  <a:srgbClr val="129C9C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148" name="Google Shape;148;p4"/>
          <p:cNvSpPr/>
          <p:nvPr/>
        </p:nvSpPr>
        <p:spPr>
          <a:xfrm>
            <a:off x="3429000" y="2010876"/>
            <a:ext cx="1920300" cy="1555200"/>
          </a:xfrm>
          <a:prstGeom prst="roundRect">
            <a:avLst>
              <a:gd fmla="val 16667" name="adj"/>
            </a:avLst>
          </a:prstGeom>
          <a:solidFill>
            <a:srgbClr val="129C9C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n8n Workflow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bc2-advisor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85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Load → Analyse →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Potenziale → Value →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 → Präsentation</a:t>
            </a:r>
            <a:endParaRPr/>
          </a:p>
        </p:txBody>
      </p:sp>
      <p:sp>
        <p:nvSpPr>
          <p:cNvPr id="149" name="Google Shape;149;p4"/>
          <p:cNvSpPr/>
          <p:nvPr/>
        </p:nvSpPr>
        <p:spPr>
          <a:xfrm>
            <a:off x="5669280" y="1417320"/>
            <a:ext cx="3520440" cy="22860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2700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E885E"/>
                </a:solidFill>
                <a:latin typeface="Calibri"/>
                <a:ea typeface="Calibri"/>
                <a:cs typeface="Calibri"/>
                <a:sym typeface="Calibri"/>
              </a:rPr>
              <a:t>FACHLOGIK (Python 3.11)</a:t>
            </a:r>
            <a:endParaRPr/>
          </a:p>
        </p:txBody>
      </p:sp>
      <p:sp>
        <p:nvSpPr>
          <p:cNvPr id="150" name="Google Shape;150;p4"/>
          <p:cNvSpPr/>
          <p:nvPr/>
        </p:nvSpPr>
        <p:spPr>
          <a:xfrm>
            <a:off x="5806440" y="1783080"/>
            <a:ext cx="1536192" cy="512064"/>
          </a:xfrm>
          <a:prstGeom prst="roundRect">
            <a:avLst>
              <a:gd fmla="val 16667" name="adj"/>
            </a:avLst>
          </a:prstGeom>
          <a:solidFill>
            <a:srgbClr val="0F4C81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Situations-Analyse</a:t>
            </a:r>
            <a:endParaRPr/>
          </a:p>
        </p:txBody>
      </p:sp>
      <p:sp>
        <p:nvSpPr>
          <p:cNvPr id="151" name="Google Shape;151;p4"/>
          <p:cNvSpPr/>
          <p:nvPr/>
        </p:nvSpPr>
        <p:spPr>
          <a:xfrm>
            <a:off x="7434072" y="1783080"/>
            <a:ext cx="1536192" cy="512064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Potenzial-Erkennung</a:t>
            </a:r>
            <a:endParaRPr/>
          </a:p>
        </p:txBody>
      </p:sp>
      <p:sp>
        <p:nvSpPr>
          <p:cNvPr id="152" name="Google Shape;152;p4"/>
          <p:cNvSpPr/>
          <p:nvPr/>
        </p:nvSpPr>
        <p:spPr>
          <a:xfrm>
            <a:off x="5806440" y="2386584"/>
            <a:ext cx="1536192" cy="512064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Value-/ROI-Berechnung</a:t>
            </a:r>
            <a:endParaRPr/>
          </a:p>
        </p:txBody>
      </p:sp>
      <p:sp>
        <p:nvSpPr>
          <p:cNvPr id="153" name="Google Shape;153;p4"/>
          <p:cNvSpPr/>
          <p:nvPr/>
        </p:nvSpPr>
        <p:spPr>
          <a:xfrm>
            <a:off x="7434072" y="2386584"/>
            <a:ext cx="1536192" cy="512064"/>
          </a:xfrm>
          <a:prstGeom prst="roundRect">
            <a:avLst>
              <a:gd fmla="val 16667" name="adj"/>
            </a:avLst>
          </a:prstGeom>
          <a:solidFill>
            <a:srgbClr val="129C9C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Priorisierung</a:t>
            </a:r>
            <a:endParaRPr/>
          </a:p>
        </p:txBody>
      </p:sp>
      <p:sp>
        <p:nvSpPr>
          <p:cNvPr id="154" name="Google Shape;154;p4"/>
          <p:cNvSpPr/>
          <p:nvPr/>
        </p:nvSpPr>
        <p:spPr>
          <a:xfrm>
            <a:off x="5806440" y="2990088"/>
            <a:ext cx="1536192" cy="512064"/>
          </a:xfrm>
          <a:prstGeom prst="roundRect">
            <a:avLst>
              <a:gd fmla="val 16667" name="adj"/>
            </a:avLst>
          </a:prstGeom>
          <a:solidFill>
            <a:srgbClr val="6C3AD6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Präsentations-Generator</a:t>
            </a:r>
            <a:endParaRPr/>
          </a:p>
        </p:txBody>
      </p:sp>
      <p:sp>
        <p:nvSpPr>
          <p:cNvPr id="155" name="Google Shape;155;p4"/>
          <p:cNvSpPr/>
          <p:nvPr/>
        </p:nvSpPr>
        <p:spPr>
          <a:xfrm>
            <a:off x="7434072" y="2990088"/>
            <a:ext cx="1536192" cy="512064"/>
          </a:xfrm>
          <a:prstGeom prst="roundRect">
            <a:avLst>
              <a:gd fmla="val 16667" name="adj"/>
            </a:avLst>
          </a:prstGeom>
          <a:solidFill>
            <a:srgbClr val="5A6B7B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Schema-Validator</a:t>
            </a:r>
            <a:endParaRPr/>
          </a:p>
        </p:txBody>
      </p:sp>
      <p:sp>
        <p:nvSpPr>
          <p:cNvPr id="156" name="Google Shape;156;p4"/>
          <p:cNvSpPr/>
          <p:nvPr/>
        </p:nvSpPr>
        <p:spPr>
          <a:xfrm>
            <a:off x="9372600" y="1417320"/>
            <a:ext cx="2423160" cy="2286000"/>
          </a:xfrm>
          <a:prstGeom prst="roundRect">
            <a:avLst>
              <a:gd fmla="val 16667" name="adj"/>
            </a:avLst>
          </a:prstGeom>
          <a:solidFill>
            <a:srgbClr val="EEF3F8"/>
          </a:solidFill>
          <a:ln cap="flat" cmpd="sng" w="12700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6C3AD6"/>
                </a:solidFill>
                <a:latin typeface="Calibri"/>
                <a:ea typeface="Calibri"/>
                <a:cs typeface="Calibri"/>
                <a:sym typeface="Calibri"/>
              </a:rPr>
              <a:t>LLM-LAYER</a:t>
            </a:r>
            <a:endParaRPr/>
          </a:p>
        </p:txBody>
      </p:sp>
      <p:sp>
        <p:nvSpPr>
          <p:cNvPr id="157" name="Google Shape;157;p4"/>
          <p:cNvSpPr/>
          <p:nvPr/>
        </p:nvSpPr>
        <p:spPr>
          <a:xfrm>
            <a:off x="9509760" y="1783080"/>
            <a:ext cx="2148840" cy="914400"/>
          </a:xfrm>
          <a:prstGeom prst="roundRect">
            <a:avLst>
              <a:gd fmla="val 16667" name="adj"/>
            </a:avLst>
          </a:prstGeom>
          <a:solidFill>
            <a:srgbClr val="6C3AD6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API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Sonnet 4.6 default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Opus 4.7 Reasoning</a:t>
            </a:r>
            <a:endParaRPr/>
          </a:p>
        </p:txBody>
      </p:sp>
      <p:sp>
        <p:nvSpPr>
          <p:cNvPr id="158" name="Google Shape;158;p4"/>
          <p:cNvSpPr/>
          <p:nvPr/>
        </p:nvSpPr>
        <p:spPr>
          <a:xfrm>
            <a:off x="9509760" y="2788920"/>
            <a:ext cx="2148840" cy="777240"/>
          </a:xfrm>
          <a:prstGeom prst="roundRect">
            <a:avLst>
              <a:gd fmla="val 16667" name="adj"/>
            </a:avLst>
          </a:prstGeom>
          <a:solidFill>
            <a:srgbClr val="16213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konzepte · audit_log</a:t>
            </a:r>
            <a:endParaRPr/>
          </a:p>
        </p:txBody>
      </p:sp>
      <p:sp>
        <p:nvSpPr>
          <p:cNvPr id="159" name="Google Shape;159;p4"/>
          <p:cNvSpPr/>
          <p:nvPr/>
        </p:nvSpPr>
        <p:spPr>
          <a:xfrm>
            <a:off x="365760" y="3977639"/>
            <a:ext cx="5577840" cy="868680"/>
          </a:xfrm>
          <a:prstGeom prst="roundRect">
            <a:avLst>
              <a:gd fmla="val 16667" name="adj"/>
            </a:avLst>
          </a:prstGeom>
          <a:solidFill>
            <a:srgbClr val="6C3AD6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HUMAN-IN-THE-LOOP — Gate-1-Dashboard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Approve / Reject · Budget · Audit-Log  (BC2s einziges Frontend)</a:t>
            </a:r>
            <a:endParaRPr/>
          </a:p>
        </p:txBody>
      </p:sp>
      <p:sp>
        <p:nvSpPr>
          <p:cNvPr id="160" name="Google Shape;160;p4"/>
          <p:cNvSpPr/>
          <p:nvPr/>
        </p:nvSpPr>
        <p:spPr>
          <a:xfrm>
            <a:off x="6126480" y="3977639"/>
            <a:ext cx="5669280" cy="868680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OUTPUT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Präsentation (3 Teile) für CoE-Manager  +  konzept.json → BC3</a:t>
            </a:r>
            <a:endParaRPr/>
          </a:p>
        </p:txBody>
      </p:sp>
      <p:cxnSp>
        <p:nvCxnSpPr>
          <p:cNvPr id="161" name="Google Shape;161;p4"/>
          <p:cNvCxnSpPr/>
          <p:nvPr/>
        </p:nvCxnSpPr>
        <p:spPr>
          <a:xfrm>
            <a:off x="3108960" y="256032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5A6B7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2" name="Google Shape;162;p4"/>
          <p:cNvCxnSpPr/>
          <p:nvPr/>
        </p:nvCxnSpPr>
        <p:spPr>
          <a:xfrm>
            <a:off x="5486400" y="256032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5A6B7B"/>
            </a:solidFill>
            <a:prstDash val="solid"/>
            <a:round/>
            <a:headEnd len="sm" w="sm" type="none"/>
            <a:tailEnd len="med" w="med" type="triangle"/>
          </a:ln>
        </p:spPr>
      </p:cxnSp>
      <p:cxnSp>
        <p:nvCxnSpPr>
          <p:cNvPr id="163" name="Google Shape;163;p4"/>
          <p:cNvCxnSpPr/>
          <p:nvPr/>
        </p:nvCxnSpPr>
        <p:spPr>
          <a:xfrm>
            <a:off x="9189720" y="2560320"/>
            <a:ext cx="182880" cy="0"/>
          </a:xfrm>
          <a:prstGeom prst="straightConnector1">
            <a:avLst/>
          </a:prstGeom>
          <a:noFill/>
          <a:ln cap="flat" cmpd="sng" w="19050">
            <a:solidFill>
              <a:srgbClr val="5A6B7B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64" name="Google Shape;164;p4"/>
          <p:cNvSpPr txBox="1"/>
          <p:nvPr/>
        </p:nvSpPr>
        <p:spPr>
          <a:xfrm>
            <a:off x="365760" y="5029200"/>
            <a:ext cx="114300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Potenzial-Erkennung ersetzt die alte Pattern-Matching-Engine (kein Qdrant/Musterkatalog).  Value/ROI rechnet deterministisch in Python; Claude liefert nur qualitative Beschreibung &amp; Impact.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BC2 — Strategic Advisor · Systemarchitektur v2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9C9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3 · RUNTIME VIEW</a:t>
            </a:r>
            <a:endParaRPr/>
          </a:p>
        </p:txBody>
      </p:sp>
      <p:sp>
        <p:nvSpPr>
          <p:cNvPr id="174" name="Google Shape;174;p5"/>
          <p:cNvSpPr txBox="1"/>
          <p:nvPr/>
        </p:nvSpPr>
        <p:spPr>
          <a:xfrm>
            <a:off x="502920" y="384048"/>
            <a:ext cx="11155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Laufzeit-Pipeline (n8n</a:t>
            </a: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/langchain</a:t>
            </a: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bc2-advisor)</a:t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411480" y="1508760"/>
            <a:ext cx="2697480" cy="10972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411480" y="1508760"/>
            <a:ext cx="384048" cy="384048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177" name="Google Shape;177;p5"/>
          <p:cNvSpPr txBox="1"/>
          <p:nvPr/>
        </p:nvSpPr>
        <p:spPr>
          <a:xfrm>
            <a:off x="886968" y="155448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4C81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/>
          </a:p>
        </p:txBody>
      </p:sp>
      <p:sp>
        <p:nvSpPr>
          <p:cNvPr id="178" name="Google Shape;178;p5"/>
          <p:cNvSpPr txBox="1"/>
          <p:nvPr/>
        </p:nvSpPr>
        <p:spPr>
          <a:xfrm>
            <a:off x="521208" y="1984248"/>
            <a:ext cx="25146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Prozessprofil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aus </a:t>
            </a:r>
            <a:r>
              <a:rPr b="1" i="0" lang="en-US" sz="1100" u="none" cap="none" strike="noStrike">
                <a:solidFill>
                  <a:srgbClr val="C0392B"/>
                </a:solidFill>
                <a:latin typeface="Calibri"/>
                <a:ea typeface="Calibri"/>
                <a:cs typeface="Calibri"/>
                <a:sym typeface="Calibri"/>
              </a:rPr>
              <a:t>Postgres? API? Event?</a:t>
            </a:r>
            <a:endParaRPr b="1">
              <a:solidFill>
                <a:srgbClr val="C0392B"/>
              </a:solidFill>
            </a:endParaRPr>
          </a:p>
        </p:txBody>
      </p:sp>
      <p:cxnSp>
        <p:nvCxnSpPr>
          <p:cNvPr id="179" name="Google Shape;179;p5"/>
          <p:cNvCxnSpPr/>
          <p:nvPr/>
        </p:nvCxnSpPr>
        <p:spPr>
          <a:xfrm>
            <a:off x="3108960" y="2057400"/>
            <a:ext cx="118872" cy="0"/>
          </a:xfrm>
          <a:prstGeom prst="straightConnector1">
            <a:avLst/>
          </a:prstGeom>
          <a:noFill/>
          <a:ln cap="flat" cmpd="sng" w="20300">
            <a:solidFill>
              <a:srgbClr val="129C9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0" name="Google Shape;180;p5"/>
          <p:cNvSpPr/>
          <p:nvPr/>
        </p:nvSpPr>
        <p:spPr>
          <a:xfrm>
            <a:off x="3227832" y="1508760"/>
            <a:ext cx="2697480" cy="10972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3227832" y="1508760"/>
            <a:ext cx="384048" cy="384048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/>
          </a:p>
        </p:txBody>
      </p:sp>
      <p:sp>
        <p:nvSpPr>
          <p:cNvPr id="182" name="Google Shape;182;p5"/>
          <p:cNvSpPr txBox="1"/>
          <p:nvPr/>
        </p:nvSpPr>
        <p:spPr>
          <a:xfrm>
            <a:off x="3703320" y="155448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67E22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/>
          </a:p>
        </p:txBody>
      </p:sp>
      <p:sp>
        <p:nvSpPr>
          <p:cNvPr id="183" name="Google Shape;183;p5"/>
          <p:cNvSpPr txBox="1"/>
          <p:nvPr/>
        </p:nvSpPr>
        <p:spPr>
          <a:xfrm>
            <a:off x="3337560" y="198424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Schema /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Pflichtfelder</a:t>
            </a:r>
            <a:endParaRPr/>
          </a:p>
        </p:txBody>
      </p:sp>
      <p:cxnSp>
        <p:nvCxnSpPr>
          <p:cNvPr id="184" name="Google Shape;184;p5"/>
          <p:cNvCxnSpPr/>
          <p:nvPr/>
        </p:nvCxnSpPr>
        <p:spPr>
          <a:xfrm>
            <a:off x="5925312" y="2057400"/>
            <a:ext cx="118872" cy="0"/>
          </a:xfrm>
          <a:prstGeom prst="straightConnector1">
            <a:avLst/>
          </a:prstGeom>
          <a:noFill/>
          <a:ln cap="flat" cmpd="sng" w="20300">
            <a:solidFill>
              <a:srgbClr val="129C9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85" name="Google Shape;185;p5"/>
          <p:cNvSpPr/>
          <p:nvPr/>
        </p:nvSpPr>
        <p:spPr>
          <a:xfrm>
            <a:off x="6044184" y="1508760"/>
            <a:ext cx="2697480" cy="10972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044184" y="1508760"/>
            <a:ext cx="384048" cy="384048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187" name="Google Shape;187;p5"/>
          <p:cNvSpPr txBox="1"/>
          <p:nvPr/>
        </p:nvSpPr>
        <p:spPr>
          <a:xfrm>
            <a:off x="6519672" y="155448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4C81"/>
                </a:solidFill>
                <a:latin typeface="Calibri"/>
                <a:ea typeface="Calibri"/>
                <a:cs typeface="Calibri"/>
                <a:sym typeface="Calibri"/>
              </a:rPr>
              <a:t>Analyse</a:t>
            </a:r>
            <a:endParaRPr/>
          </a:p>
        </p:txBody>
      </p:sp>
      <p:sp>
        <p:nvSpPr>
          <p:cNvPr id="188" name="Google Shape;188;p5"/>
          <p:cNvSpPr txBox="1"/>
          <p:nvPr/>
        </p:nvSpPr>
        <p:spPr>
          <a:xfrm>
            <a:off x="6153912" y="198424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Ist-Situation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Teil 1</a:t>
            </a:r>
            <a:endParaRPr/>
          </a:p>
        </p:txBody>
      </p:sp>
      <p:cxnSp>
        <p:nvCxnSpPr>
          <p:cNvPr id="189" name="Google Shape;189;p5"/>
          <p:cNvCxnSpPr/>
          <p:nvPr/>
        </p:nvCxnSpPr>
        <p:spPr>
          <a:xfrm>
            <a:off x="8741664" y="2057400"/>
            <a:ext cx="118872" cy="0"/>
          </a:xfrm>
          <a:prstGeom prst="straightConnector1">
            <a:avLst/>
          </a:prstGeom>
          <a:noFill/>
          <a:ln cap="flat" cmpd="sng" w="20300">
            <a:solidFill>
              <a:srgbClr val="129C9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0" name="Google Shape;190;p5"/>
          <p:cNvSpPr/>
          <p:nvPr/>
        </p:nvSpPr>
        <p:spPr>
          <a:xfrm>
            <a:off x="8860536" y="1508760"/>
            <a:ext cx="2697480" cy="10972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8860536" y="1508760"/>
            <a:ext cx="384048" cy="384048"/>
          </a:xfrm>
          <a:prstGeom prst="ellipse">
            <a:avLst/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192" name="Google Shape;192;p5"/>
          <p:cNvSpPr txBox="1"/>
          <p:nvPr/>
        </p:nvSpPr>
        <p:spPr>
          <a:xfrm>
            <a:off x="9336024" y="155448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885E"/>
                </a:solidFill>
                <a:latin typeface="Calibri"/>
                <a:ea typeface="Calibri"/>
                <a:cs typeface="Calibri"/>
                <a:sym typeface="Calibri"/>
              </a:rPr>
              <a:t>Potenziale</a:t>
            </a:r>
            <a:endParaRPr/>
          </a:p>
        </p:txBody>
      </p:sp>
      <p:sp>
        <p:nvSpPr>
          <p:cNvPr id="193" name="Google Shape;193;p5"/>
          <p:cNvSpPr txBox="1"/>
          <p:nvPr/>
        </p:nvSpPr>
        <p:spPr>
          <a:xfrm>
            <a:off x="8970264" y="198424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erkennen (LLM)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→ Teil 2</a:t>
            </a:r>
            <a:endParaRPr/>
          </a:p>
        </p:txBody>
      </p:sp>
      <p:sp>
        <p:nvSpPr>
          <p:cNvPr id="194" name="Google Shape;194;p5"/>
          <p:cNvSpPr/>
          <p:nvPr/>
        </p:nvSpPr>
        <p:spPr>
          <a:xfrm>
            <a:off x="411480" y="2971800"/>
            <a:ext cx="2697480" cy="10972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5"/>
          <p:cNvSpPr/>
          <p:nvPr/>
        </p:nvSpPr>
        <p:spPr>
          <a:xfrm>
            <a:off x="411480" y="2971800"/>
            <a:ext cx="384048" cy="384048"/>
          </a:xfrm>
          <a:prstGeom prst="ellipse">
            <a:avLst/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196" name="Google Shape;196;p5"/>
          <p:cNvSpPr txBox="1"/>
          <p:nvPr/>
        </p:nvSpPr>
        <p:spPr>
          <a:xfrm>
            <a:off x="886968" y="30175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E885E"/>
                </a:solidFill>
                <a:latin typeface="Calibri"/>
                <a:ea typeface="Calibri"/>
                <a:cs typeface="Calibri"/>
                <a:sym typeface="Calibri"/>
              </a:rPr>
              <a:t>Value</a:t>
            </a:r>
            <a:endParaRPr/>
          </a:p>
        </p:txBody>
      </p:sp>
      <p:sp>
        <p:nvSpPr>
          <p:cNvPr id="197" name="Google Shape;197;p5"/>
          <p:cNvSpPr txBox="1"/>
          <p:nvPr/>
        </p:nvSpPr>
        <p:spPr>
          <a:xfrm>
            <a:off x="521208" y="344728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ROI / Kosten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deterministisch</a:t>
            </a:r>
            <a:endParaRPr/>
          </a:p>
        </p:txBody>
      </p:sp>
      <p:cxnSp>
        <p:nvCxnSpPr>
          <p:cNvPr id="198" name="Google Shape;198;p5"/>
          <p:cNvCxnSpPr/>
          <p:nvPr/>
        </p:nvCxnSpPr>
        <p:spPr>
          <a:xfrm>
            <a:off x="3108960" y="3520440"/>
            <a:ext cx="118872" cy="0"/>
          </a:xfrm>
          <a:prstGeom prst="straightConnector1">
            <a:avLst/>
          </a:prstGeom>
          <a:noFill/>
          <a:ln cap="flat" cmpd="sng" w="20300">
            <a:solidFill>
              <a:srgbClr val="129C9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199" name="Google Shape;199;p5"/>
          <p:cNvSpPr/>
          <p:nvPr/>
        </p:nvSpPr>
        <p:spPr>
          <a:xfrm>
            <a:off x="3227832" y="2971800"/>
            <a:ext cx="2697480" cy="10972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5"/>
          <p:cNvSpPr/>
          <p:nvPr/>
        </p:nvSpPr>
        <p:spPr>
          <a:xfrm>
            <a:off x="3227832" y="2971800"/>
            <a:ext cx="384048" cy="384048"/>
          </a:xfrm>
          <a:prstGeom prst="ellipse">
            <a:avLst/>
          </a:prstGeom>
          <a:solidFill>
            <a:srgbClr val="129C9C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01" name="Google Shape;201;p5"/>
          <p:cNvSpPr txBox="1"/>
          <p:nvPr/>
        </p:nvSpPr>
        <p:spPr>
          <a:xfrm>
            <a:off x="3703320" y="30175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129C9C"/>
                </a:solidFill>
                <a:latin typeface="Calibri"/>
                <a:ea typeface="Calibri"/>
                <a:cs typeface="Calibri"/>
                <a:sym typeface="Calibri"/>
              </a:rPr>
              <a:t>Prio</a:t>
            </a:r>
            <a:endParaRPr/>
          </a:p>
        </p:txBody>
      </p:sp>
      <p:sp>
        <p:nvSpPr>
          <p:cNvPr id="202" name="Google Shape;202;p5"/>
          <p:cNvSpPr txBox="1"/>
          <p:nvPr/>
        </p:nvSpPr>
        <p:spPr>
          <a:xfrm>
            <a:off x="3337560" y="344728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Komplexität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x Impact</a:t>
            </a:r>
            <a:endParaRPr/>
          </a:p>
        </p:txBody>
      </p:sp>
      <p:cxnSp>
        <p:nvCxnSpPr>
          <p:cNvPr id="203" name="Google Shape;203;p5"/>
          <p:cNvCxnSpPr/>
          <p:nvPr/>
        </p:nvCxnSpPr>
        <p:spPr>
          <a:xfrm>
            <a:off x="5925312" y="3520440"/>
            <a:ext cx="118872" cy="0"/>
          </a:xfrm>
          <a:prstGeom prst="straightConnector1">
            <a:avLst/>
          </a:prstGeom>
          <a:noFill/>
          <a:ln cap="flat" cmpd="sng" w="20300">
            <a:solidFill>
              <a:srgbClr val="129C9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4" name="Google Shape;204;p5"/>
          <p:cNvSpPr/>
          <p:nvPr/>
        </p:nvSpPr>
        <p:spPr>
          <a:xfrm>
            <a:off x="6044184" y="2971800"/>
            <a:ext cx="2697480" cy="10972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5"/>
          <p:cNvSpPr/>
          <p:nvPr/>
        </p:nvSpPr>
        <p:spPr>
          <a:xfrm>
            <a:off x="6044184" y="2971800"/>
            <a:ext cx="384048" cy="384048"/>
          </a:xfrm>
          <a:prstGeom prst="ellipse">
            <a:avLst/>
          </a:prstGeom>
          <a:solidFill>
            <a:srgbClr val="6C3AD6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6" name="Google Shape;206;p5"/>
          <p:cNvSpPr txBox="1"/>
          <p:nvPr/>
        </p:nvSpPr>
        <p:spPr>
          <a:xfrm>
            <a:off x="6519672" y="30175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6C3AD6"/>
                </a:solidFill>
                <a:latin typeface="Calibri"/>
                <a:ea typeface="Calibri"/>
                <a:cs typeface="Calibri"/>
                <a:sym typeface="Calibri"/>
              </a:rPr>
              <a:t>Präsentation</a:t>
            </a:r>
            <a:endParaRPr/>
          </a:p>
        </p:txBody>
      </p:sp>
      <p:sp>
        <p:nvSpPr>
          <p:cNvPr id="207" name="Google Shape;207;p5"/>
          <p:cNvSpPr txBox="1"/>
          <p:nvPr/>
        </p:nvSpPr>
        <p:spPr>
          <a:xfrm>
            <a:off x="6153912" y="344728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3 Teile +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konzept.json</a:t>
            </a:r>
            <a:endParaRPr/>
          </a:p>
        </p:txBody>
      </p:sp>
      <p:cxnSp>
        <p:nvCxnSpPr>
          <p:cNvPr id="208" name="Google Shape;208;p5"/>
          <p:cNvCxnSpPr/>
          <p:nvPr/>
        </p:nvCxnSpPr>
        <p:spPr>
          <a:xfrm>
            <a:off x="8741664" y="3520440"/>
            <a:ext cx="118872" cy="0"/>
          </a:xfrm>
          <a:prstGeom prst="straightConnector1">
            <a:avLst/>
          </a:prstGeom>
          <a:noFill/>
          <a:ln cap="flat" cmpd="sng" w="20300">
            <a:solidFill>
              <a:srgbClr val="129C9C"/>
            </a:solidFill>
            <a:prstDash val="solid"/>
            <a:round/>
            <a:headEnd len="sm" w="sm" type="none"/>
            <a:tailEnd len="med" w="med" type="triangle"/>
          </a:ln>
        </p:spPr>
      </p:cxnSp>
      <p:sp>
        <p:nvSpPr>
          <p:cNvPr id="209" name="Google Shape;209;p5"/>
          <p:cNvSpPr/>
          <p:nvPr/>
        </p:nvSpPr>
        <p:spPr>
          <a:xfrm>
            <a:off x="8860536" y="2971800"/>
            <a:ext cx="2697480" cy="1097280"/>
          </a:xfrm>
          <a:prstGeom prst="roundRect">
            <a:avLst>
              <a:gd fmla="val 16667" name="adj"/>
            </a:avLst>
          </a:prstGeom>
          <a:solidFill>
            <a:srgbClr val="F5F7FA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5"/>
          <p:cNvSpPr/>
          <p:nvPr/>
        </p:nvSpPr>
        <p:spPr>
          <a:xfrm>
            <a:off x="8860536" y="2971800"/>
            <a:ext cx="384048" cy="384048"/>
          </a:xfrm>
          <a:prstGeom prst="ellipse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11" name="Google Shape;211;p5"/>
          <p:cNvSpPr txBox="1"/>
          <p:nvPr/>
        </p:nvSpPr>
        <p:spPr>
          <a:xfrm>
            <a:off x="9336024" y="3017520"/>
            <a:ext cx="2148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F4C81"/>
                </a:solidFill>
                <a:latin typeface="Calibri"/>
                <a:ea typeface="Calibri"/>
                <a:cs typeface="Calibri"/>
                <a:sym typeface="Calibri"/>
              </a:rPr>
              <a:t>Persist</a:t>
            </a:r>
            <a:endParaRPr/>
          </a:p>
        </p:txBody>
      </p:sp>
      <p:sp>
        <p:nvSpPr>
          <p:cNvPr id="212" name="Google Shape;212;p5"/>
          <p:cNvSpPr txBox="1"/>
          <p:nvPr/>
        </p:nvSpPr>
        <p:spPr>
          <a:xfrm>
            <a:off x="8970264" y="3447288"/>
            <a:ext cx="2514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Postgres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gate1=pending</a:t>
            </a:r>
            <a:endParaRPr/>
          </a:p>
        </p:txBody>
      </p:sp>
      <p:sp>
        <p:nvSpPr>
          <p:cNvPr id="213" name="Google Shape;213;p5"/>
          <p:cNvSpPr/>
          <p:nvPr/>
        </p:nvSpPr>
        <p:spPr>
          <a:xfrm>
            <a:off x="411480" y="4709160"/>
            <a:ext cx="5577840" cy="1280160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 1 · Human-in-the-Loop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CoE-Manager: Approve / Reject + Budget/Kommentar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→ approved: gate1=approved, audit_log, bc2.konzept.ready → BC3</a:t>
            </a:r>
            <a:endParaRPr/>
          </a:p>
        </p:txBody>
      </p:sp>
      <p:sp>
        <p:nvSpPr>
          <p:cNvPr id="214" name="Google Shape;214;p5"/>
          <p:cNvSpPr/>
          <p:nvPr/>
        </p:nvSpPr>
        <p:spPr>
          <a:xfrm>
            <a:off x="6172200" y="4709160"/>
            <a:ext cx="5577840" cy="1280160"/>
          </a:xfrm>
          <a:prstGeom prst="roundRect">
            <a:avLst>
              <a:gd fmla="val 16667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REJECT-LOOP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Kommentar → zurück an Potenzial-/Reasoning-Stufe (4)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Präsentation wird neu erzeugt, erneut zur Freigabe vorgelegt</a:t>
            </a:r>
            <a:endParaRPr/>
          </a:p>
        </p:txBody>
      </p:sp>
      <p:sp>
        <p:nvSpPr>
          <p:cNvPr id="215" name="Google Shape;215;p5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BC2 — Strategic Advisor · Systemarchitektur v2</a:t>
            </a:r>
            <a:endParaRPr/>
          </a:p>
        </p:txBody>
      </p:sp>
      <p:sp>
        <p:nvSpPr>
          <p:cNvPr id="216" name="Google Shape;216;p5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cxnSp>
        <p:nvCxnSpPr>
          <p:cNvPr id="217" name="Google Shape;217;p5"/>
          <p:cNvCxnSpPr>
            <a:stCxn id="190" idx="2"/>
            <a:endCxn id="194" idx="0"/>
          </p:cNvCxnSpPr>
          <p:nvPr/>
        </p:nvCxnSpPr>
        <p:spPr>
          <a:xfrm rot="5400000">
            <a:off x="5801826" y="-1435710"/>
            <a:ext cx="365700" cy="8449200"/>
          </a:xfrm>
          <a:prstGeom prst="bentConnector3">
            <a:avLst>
              <a:gd fmla="val 50008" name="adj1"/>
            </a:avLst>
          </a:prstGeom>
          <a:noFill/>
          <a:ln cap="flat" cmpd="sng" w="20300">
            <a:solidFill>
              <a:srgbClr val="129C9C"/>
            </a:solidFill>
            <a:prstDash val="solid"/>
            <a:round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6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6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 txBox="1"/>
          <p:nvPr/>
        </p:nvSpPr>
        <p:spPr>
          <a:xfrm>
            <a:off x="502920" y="146304"/>
            <a:ext cx="109728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KONZEPT-</a:t>
            </a:r>
            <a:r>
              <a:rPr b="1" lang="en-US" sz="1200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BC2</a:t>
            </a:r>
            <a:endParaRPr/>
          </a:p>
        </p:txBody>
      </p:sp>
      <p:sp>
        <p:nvSpPr>
          <p:cNvPr id="225" name="Google Shape;225;p6"/>
          <p:cNvSpPr txBox="1"/>
          <p:nvPr/>
        </p:nvSpPr>
        <p:spPr>
          <a:xfrm>
            <a:off x="502920" y="384048"/>
            <a:ext cx="11155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Potenziale erkennen </a:t>
            </a:r>
            <a:endParaRPr/>
          </a:p>
        </p:txBody>
      </p:sp>
      <p:sp>
        <p:nvSpPr>
          <p:cNvPr id="226" name="Google Shape;226;p6"/>
          <p:cNvSpPr txBox="1"/>
          <p:nvPr/>
        </p:nvSpPr>
        <p:spPr>
          <a:xfrm>
            <a:off x="467570" y="2197855"/>
            <a:ext cx="11155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F4C81"/>
                </a:solidFill>
                <a:latin typeface="Calibri"/>
                <a:ea typeface="Calibri"/>
                <a:cs typeface="Calibri"/>
                <a:sym typeface="Calibri"/>
              </a:rPr>
              <a:t>Pro Potenzial bewerte</a:t>
            </a:r>
            <a:r>
              <a:rPr b="1" lang="en-US">
                <a:solidFill>
                  <a:srgbClr val="0F4C8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r>
              <a:rPr b="1" i="0" lang="en-US" sz="1400" u="none" cap="none" strike="noStrike">
                <a:solidFill>
                  <a:srgbClr val="0F4C8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467570" y="2700775"/>
            <a:ext cx="3566100" cy="567000"/>
          </a:xfrm>
          <a:prstGeom prst="roundRect">
            <a:avLst>
              <a:gd fmla="val 16667" name="adj"/>
            </a:avLst>
          </a:prstGeom>
          <a:solidFill>
            <a:srgbClr val="0F4C81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Manueller Aufwand heute</a:t>
            </a:r>
            <a:endParaRPr/>
          </a:p>
        </p:txBody>
      </p:sp>
      <p:sp>
        <p:nvSpPr>
          <p:cNvPr id="228" name="Google Shape;228;p6"/>
          <p:cNvSpPr/>
          <p:nvPr/>
        </p:nvSpPr>
        <p:spPr>
          <a:xfrm>
            <a:off x="4216609" y="2700775"/>
            <a:ext cx="3566100" cy="567000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Einsparpotenzial / Impact</a:t>
            </a:r>
            <a:endParaRPr/>
          </a:p>
        </p:txBody>
      </p:sp>
      <p:sp>
        <p:nvSpPr>
          <p:cNvPr id="229" name="Google Shape;229;p6"/>
          <p:cNvSpPr/>
          <p:nvPr/>
        </p:nvSpPr>
        <p:spPr>
          <a:xfrm>
            <a:off x="7965648" y="2700775"/>
            <a:ext cx="3566100" cy="567000"/>
          </a:xfrm>
          <a:prstGeom prst="roundRect">
            <a:avLst>
              <a:gd fmla="val 16667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Umsetzungskomplexität</a:t>
            </a:r>
            <a:endParaRPr/>
          </a:p>
        </p:txBody>
      </p:sp>
      <p:sp>
        <p:nvSpPr>
          <p:cNvPr id="230" name="Google Shape;230;p6"/>
          <p:cNvSpPr/>
          <p:nvPr/>
        </p:nvSpPr>
        <p:spPr>
          <a:xfrm>
            <a:off x="467570" y="3414007"/>
            <a:ext cx="3566100" cy="567000"/>
          </a:xfrm>
          <a:prstGeom prst="roundRect">
            <a:avLst>
              <a:gd fmla="val 16667" name="adj"/>
            </a:avLst>
          </a:prstGeom>
          <a:solidFill>
            <a:srgbClr val="6C3AD6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Investition (Richtwert)</a:t>
            </a:r>
            <a:endParaRPr/>
          </a:p>
        </p:txBody>
      </p:sp>
      <p:sp>
        <p:nvSpPr>
          <p:cNvPr id="231" name="Google Shape;231;p6"/>
          <p:cNvSpPr/>
          <p:nvPr/>
        </p:nvSpPr>
        <p:spPr>
          <a:xfrm>
            <a:off x="4216609" y="3414007"/>
            <a:ext cx="3566100" cy="567000"/>
          </a:xfrm>
          <a:prstGeom prst="roundRect">
            <a:avLst>
              <a:gd fmla="val 16667" name="adj"/>
            </a:avLst>
          </a:prstGeom>
          <a:solidFill>
            <a:srgbClr val="129C9C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Amortisation</a:t>
            </a:r>
            <a:endParaRPr/>
          </a:p>
        </p:txBody>
      </p:sp>
      <p:sp>
        <p:nvSpPr>
          <p:cNvPr id="232" name="Google Shape;232;p6"/>
          <p:cNvSpPr/>
          <p:nvPr/>
        </p:nvSpPr>
        <p:spPr>
          <a:xfrm>
            <a:off x="7965648" y="3414007"/>
            <a:ext cx="3566100" cy="567000"/>
          </a:xfrm>
          <a:prstGeom prst="roundRect">
            <a:avLst>
              <a:gd fmla="val 16667" name="adj"/>
            </a:avLst>
          </a:prstGeom>
          <a:solidFill>
            <a:srgbClr val="5A6B7B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Kategorie: Quick Win / Strategisch / …</a:t>
            </a:r>
            <a:endParaRPr/>
          </a:p>
        </p:txBody>
      </p:sp>
      <p:sp>
        <p:nvSpPr>
          <p:cNvPr id="233" name="Google Shape;233;p6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BC2 — Strategic Advisor · Systemarchitektur v2</a:t>
            </a:r>
            <a:endParaRPr/>
          </a:p>
        </p:txBody>
      </p:sp>
      <p:sp>
        <p:nvSpPr>
          <p:cNvPr id="234" name="Google Shape;234;p6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7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4 · API-DESIGN</a:t>
            </a:r>
            <a:endParaRPr/>
          </a:p>
        </p:txBody>
      </p:sp>
      <p:sp>
        <p:nvSpPr>
          <p:cNvPr id="242" name="Google Shape;242;p7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REST-Endpunkte (FastAPI)</a:t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502920" y="1325880"/>
            <a:ext cx="11201400" cy="86868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Was ist FastAPI?  Ein modernes Python-Framework für REST-APIs: Funktion mit Typ-Hints schreiben → FastAPI erzeugt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den HTTP-Endpunkt UND automatisch die OpenAPI-/Swagger-Doku (unter /docs). Leichtgewichtig, async-fähig.</a:t>
            </a:r>
            <a:endParaRPr/>
          </a:p>
        </p:txBody>
      </p:sp>
      <p:sp>
        <p:nvSpPr>
          <p:cNvPr id="244" name="Google Shape;244;p7"/>
          <p:cNvSpPr/>
          <p:nvPr/>
        </p:nvSpPr>
        <p:spPr>
          <a:xfrm>
            <a:off x="502920" y="2423160"/>
            <a:ext cx="1005840" cy="457200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/>
          </a:p>
        </p:txBody>
      </p:sp>
      <p:sp>
        <p:nvSpPr>
          <p:cNvPr id="245" name="Google Shape;245;p7"/>
          <p:cNvSpPr/>
          <p:nvPr/>
        </p:nvSpPr>
        <p:spPr>
          <a:xfrm>
            <a:off x="1600200" y="2423160"/>
            <a:ext cx="365760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/bc2/konzept</a:t>
            </a:r>
            <a:endParaRPr/>
          </a:p>
        </p:txBody>
      </p:sp>
      <p:sp>
        <p:nvSpPr>
          <p:cNvPr id="246" name="Google Shape;246;p7"/>
          <p:cNvSpPr txBox="1"/>
          <p:nvPr/>
        </p:nvSpPr>
        <p:spPr>
          <a:xfrm>
            <a:off x="5440680" y="2459736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Konzept-Erzeugung anstoßen → startet Pipeline, gibt konzept_id</a:t>
            </a:r>
            <a:endParaRPr/>
          </a:p>
        </p:txBody>
      </p:sp>
      <p:sp>
        <p:nvSpPr>
          <p:cNvPr id="247" name="Google Shape;247;p7"/>
          <p:cNvSpPr/>
          <p:nvPr/>
        </p:nvSpPr>
        <p:spPr>
          <a:xfrm>
            <a:off x="502920" y="2971800"/>
            <a:ext cx="1005840" cy="457200"/>
          </a:xfrm>
          <a:prstGeom prst="roundRect">
            <a:avLst>
              <a:gd fmla="val 16667" name="adj"/>
            </a:avLst>
          </a:prstGeom>
          <a:solidFill>
            <a:srgbClr val="0F4C81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1600200" y="2971800"/>
            <a:ext cx="365760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/bc2/konzept/{id}</a:t>
            </a:r>
            <a:endParaRPr/>
          </a:p>
        </p:txBody>
      </p:sp>
      <p:sp>
        <p:nvSpPr>
          <p:cNvPr id="249" name="Google Shape;249;p7"/>
          <p:cNvSpPr txBox="1"/>
          <p:nvPr/>
        </p:nvSpPr>
        <p:spPr>
          <a:xfrm>
            <a:off x="5440680" y="3008376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Ein Konzept abrufen (Dashboard &amp; BC3)</a:t>
            </a:r>
            <a:endParaRPr/>
          </a:p>
        </p:txBody>
      </p:sp>
      <p:sp>
        <p:nvSpPr>
          <p:cNvPr id="250" name="Google Shape;250;p7"/>
          <p:cNvSpPr/>
          <p:nvPr/>
        </p:nvSpPr>
        <p:spPr>
          <a:xfrm>
            <a:off x="502920" y="3520440"/>
            <a:ext cx="1005840" cy="457200"/>
          </a:xfrm>
          <a:prstGeom prst="roundRect">
            <a:avLst>
              <a:gd fmla="val 16667" name="adj"/>
            </a:avLst>
          </a:prstGeom>
          <a:solidFill>
            <a:srgbClr val="0F4C81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/>
          </a:p>
        </p:txBody>
      </p:sp>
      <p:sp>
        <p:nvSpPr>
          <p:cNvPr id="251" name="Google Shape;251;p7"/>
          <p:cNvSpPr/>
          <p:nvPr/>
        </p:nvSpPr>
        <p:spPr>
          <a:xfrm>
            <a:off x="1600200" y="3520440"/>
            <a:ext cx="365760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/bc2/konzepte?status=pending</a:t>
            </a:r>
            <a:endParaRPr/>
          </a:p>
        </p:txBody>
      </p:sp>
      <p:sp>
        <p:nvSpPr>
          <p:cNvPr id="252" name="Google Shape;252;p7"/>
          <p:cNvSpPr txBox="1"/>
          <p:nvPr/>
        </p:nvSpPr>
        <p:spPr>
          <a:xfrm>
            <a:off x="5440680" y="3557016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Liste offener Konzepte (fürs Gate 1)</a:t>
            </a:r>
            <a:endParaRPr/>
          </a:p>
        </p:txBody>
      </p:sp>
      <p:sp>
        <p:nvSpPr>
          <p:cNvPr id="253" name="Google Shape;253;p7"/>
          <p:cNvSpPr/>
          <p:nvPr/>
        </p:nvSpPr>
        <p:spPr>
          <a:xfrm>
            <a:off x="502920" y="4069080"/>
            <a:ext cx="1005840" cy="457200"/>
          </a:xfrm>
          <a:prstGeom prst="roundRect">
            <a:avLst>
              <a:gd fmla="val 16667" name="adj"/>
            </a:avLst>
          </a:prstGeom>
          <a:solidFill>
            <a:srgbClr val="6C3AD6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/>
          </a:p>
        </p:txBody>
      </p:sp>
      <p:sp>
        <p:nvSpPr>
          <p:cNvPr id="254" name="Google Shape;254;p7"/>
          <p:cNvSpPr/>
          <p:nvPr/>
        </p:nvSpPr>
        <p:spPr>
          <a:xfrm>
            <a:off x="1600200" y="4069080"/>
            <a:ext cx="365760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/bc2/konzept/{id}/praesentation</a:t>
            </a:r>
            <a:endParaRPr/>
          </a:p>
        </p:txBody>
      </p:sp>
      <p:sp>
        <p:nvSpPr>
          <p:cNvPr id="255" name="Google Shape;255;p7"/>
          <p:cNvSpPr txBox="1"/>
          <p:nvPr/>
        </p:nvSpPr>
        <p:spPr>
          <a:xfrm>
            <a:off x="5440680" y="4105656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Präsentation (3 Teile) — JSON / Markdown / PDF</a:t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502920" y="4617720"/>
            <a:ext cx="1005840" cy="457200"/>
          </a:xfrm>
          <a:prstGeom prst="roundRect">
            <a:avLst>
              <a:gd fmla="val 16667" name="adj"/>
            </a:avLst>
          </a:prstGeom>
          <a:solidFill>
            <a:srgbClr val="129C9C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/>
          </a:p>
        </p:txBody>
      </p:sp>
      <p:sp>
        <p:nvSpPr>
          <p:cNvPr id="257" name="Google Shape;257;p7"/>
          <p:cNvSpPr/>
          <p:nvPr/>
        </p:nvSpPr>
        <p:spPr>
          <a:xfrm>
            <a:off x="1600200" y="4617720"/>
            <a:ext cx="365760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/bc2/priorisierung/{id}</a:t>
            </a:r>
            <a:endParaRPr/>
          </a:p>
        </p:txBody>
      </p:sp>
      <p:sp>
        <p:nvSpPr>
          <p:cNvPr id="258" name="Google Shape;258;p7"/>
          <p:cNvSpPr txBox="1"/>
          <p:nvPr/>
        </p:nvSpPr>
        <p:spPr>
          <a:xfrm>
            <a:off x="5440680" y="4654296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Priorisierung (L2-02)</a:t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502920" y="5166360"/>
            <a:ext cx="1005840" cy="457200"/>
          </a:xfrm>
          <a:prstGeom prst="roundRect">
            <a:avLst>
              <a:gd fmla="val 16667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POST</a:t>
            </a:r>
            <a:endParaRPr/>
          </a:p>
        </p:txBody>
      </p:sp>
      <p:sp>
        <p:nvSpPr>
          <p:cNvPr id="260" name="Google Shape;260;p7"/>
          <p:cNvSpPr/>
          <p:nvPr/>
        </p:nvSpPr>
        <p:spPr>
          <a:xfrm>
            <a:off x="1600200" y="5166360"/>
            <a:ext cx="365760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/bc2/konzept/{id}/gate1</a:t>
            </a:r>
            <a:endParaRPr/>
          </a:p>
        </p:txBody>
      </p:sp>
      <p:sp>
        <p:nvSpPr>
          <p:cNvPr id="261" name="Google Shape;261;p7"/>
          <p:cNvSpPr txBox="1"/>
          <p:nvPr/>
        </p:nvSpPr>
        <p:spPr>
          <a:xfrm>
            <a:off x="5440680" y="5202936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Gate-1-Entscheidung → feuert bc2.konzept.ready</a:t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502920" y="5715000"/>
            <a:ext cx="1005840" cy="457200"/>
          </a:xfrm>
          <a:prstGeom prst="roundRect">
            <a:avLst>
              <a:gd fmla="val 16667" name="adj"/>
            </a:avLst>
          </a:prstGeom>
          <a:solidFill>
            <a:srgbClr val="5A6B7B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GET</a:t>
            </a:r>
            <a:endParaRPr/>
          </a:p>
        </p:txBody>
      </p:sp>
      <p:sp>
        <p:nvSpPr>
          <p:cNvPr id="263" name="Google Shape;263;p7"/>
          <p:cNvSpPr/>
          <p:nvPr/>
        </p:nvSpPr>
        <p:spPr>
          <a:xfrm>
            <a:off x="1600200" y="5715000"/>
            <a:ext cx="365760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/healthz · /readyz</a:t>
            </a:r>
            <a:endParaRPr/>
          </a:p>
        </p:txBody>
      </p:sp>
      <p:sp>
        <p:nvSpPr>
          <p:cNvPr id="264" name="Google Shape;264;p7"/>
          <p:cNvSpPr txBox="1"/>
          <p:nvPr/>
        </p:nvSpPr>
        <p:spPr>
          <a:xfrm>
            <a:off x="5440680" y="5751576"/>
            <a:ext cx="63093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Health-Checks</a:t>
            </a:r>
            <a:endParaRPr/>
          </a:p>
        </p:txBody>
      </p:sp>
      <p:sp>
        <p:nvSpPr>
          <p:cNvPr id="265" name="Google Shape;265;p7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BC2 — Strategic Advisor · Systemarchitektur v2</a:t>
            </a:r>
            <a:endParaRPr/>
          </a:p>
        </p:txBody>
      </p:sp>
      <p:sp>
        <p:nvSpPr>
          <p:cNvPr id="266" name="Google Shape;266;p7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/>
          </a:p>
        </p:txBody>
      </p:sp>
      <p:sp>
        <p:nvSpPr>
          <p:cNvPr id="267" name="Google Shape;267;p7"/>
          <p:cNvSpPr/>
          <p:nvPr/>
        </p:nvSpPr>
        <p:spPr>
          <a:xfrm>
            <a:off x="8771325" y="5257475"/>
            <a:ext cx="2002500" cy="4116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8375" lIns="25125" spcFirstLastPara="1" rIns="25125" wrap="square" tIns="8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Trigger an BC3 noch zu entscheiden!</a:t>
            </a:r>
            <a:endParaRPr sz="64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6C3AD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8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5 · FRONTEND / HitL</a:t>
            </a:r>
            <a:endParaRPr/>
          </a:p>
        </p:txBody>
      </p:sp>
      <p:sp>
        <p:nvSpPr>
          <p:cNvPr id="275" name="Google Shape;275;p8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Gibt es ein Frontend für Gate 0 und Gate 1?</a:t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502925" y="1463048"/>
            <a:ext cx="5440800" cy="3406500"/>
          </a:xfrm>
          <a:prstGeom prst="roundRect">
            <a:avLst>
              <a:gd fmla="val 16667" name="adj"/>
            </a:avLst>
          </a:prstGeom>
          <a:solidFill>
            <a:srgbClr val="FBEAE8"/>
          </a:solidFill>
          <a:ln cap="flat" cmpd="sng" w="19050">
            <a:solidFill>
              <a:srgbClr val="C039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502920" y="1463040"/>
            <a:ext cx="5440680" cy="73152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 0  </a:t>
            </a:r>
            <a:endParaRPr/>
          </a:p>
        </p:txBody>
      </p:sp>
      <p:sp>
        <p:nvSpPr>
          <p:cNvPr id="278" name="Google Shape;278;p8"/>
          <p:cNvSpPr txBox="1"/>
          <p:nvPr/>
        </p:nvSpPr>
        <p:spPr>
          <a:xfrm>
            <a:off x="777240" y="2423160"/>
            <a:ext cx="4937700" cy="22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Automatischer Schwellwert-Check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(Vollständigkeit, PII)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Keine menschliche Entscheidung?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→ kein UI nötig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Liegt bei BC1 / Platform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In BC2 nur als defensiver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Input-Validator vorhanden</a:t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6263640" y="1463040"/>
            <a:ext cx="5440680" cy="4206240"/>
          </a:xfrm>
          <a:prstGeom prst="roundRect">
            <a:avLst>
              <a:gd fmla="val 16667" name="adj"/>
            </a:avLst>
          </a:prstGeom>
          <a:solidFill>
            <a:srgbClr val="E4F3EA"/>
          </a:solidFill>
          <a:ln cap="flat" cmpd="sng" w="19050">
            <a:solidFill>
              <a:srgbClr val="1E8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6263640" y="1463040"/>
            <a:ext cx="5440680" cy="731520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GATE 1  —  Dashboard möglich</a:t>
            </a:r>
            <a:endParaRPr/>
          </a:p>
        </p:txBody>
      </p:sp>
      <p:sp>
        <p:nvSpPr>
          <p:cNvPr id="281" name="Google Shape;281;p8"/>
          <p:cNvSpPr txBox="1"/>
          <p:nvPr/>
        </p:nvSpPr>
        <p:spPr>
          <a:xfrm>
            <a:off x="6537960" y="2423160"/>
            <a:ext cx="4937700" cy="267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BC2s Frontend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(AP 2.6 · L2-04)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Web-UI für den CoE-Manager: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Potenziale, Impact, ROI je Konzept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Approve / Reject + Budget anpassen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• Schreibt Audit-Log, feuert bei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 Approve bc2.konzept.ready</a:t>
            </a:r>
            <a:endParaRPr b="0" i="0" sz="1400" u="none" cap="none" strike="noStrike"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Alternative: Kontrolle der ppt</a:t>
            </a:r>
            <a:endParaRPr>
              <a:solidFill>
                <a:srgbClr val="1A1A2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BC2 — Strategic Advisor · Systemarchitektur v2</a:t>
            </a:r>
            <a:endParaRPr/>
          </a:p>
        </p:txBody>
      </p:sp>
      <p:sp>
        <p:nvSpPr>
          <p:cNvPr id="283" name="Google Shape;283;p8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7008025" y="5424275"/>
            <a:ext cx="3849300" cy="548700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8375" lIns="25125" spcFirstLastPara="1" rIns="25125" wrap="square" tIns="83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825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Frontend Technologie noch zu entscheiden</a:t>
            </a:r>
            <a:endParaRPr sz="64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6213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9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9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6 · MVP vs. ZIEL</a:t>
            </a:r>
            <a:endParaRPr/>
          </a:p>
        </p:txBody>
      </p:sp>
      <p:sp>
        <p:nvSpPr>
          <p:cNvPr id="292" name="Google Shape;292;p9"/>
          <p:cNvSpPr txBox="1"/>
          <p:nvPr/>
        </p:nvSpPr>
        <p:spPr>
          <a:xfrm>
            <a:off x="502920" y="384048"/>
            <a:ext cx="11155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Welche Komponente brauch</a:t>
            </a: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en wir</a:t>
            </a: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wirklich?</a:t>
            </a:r>
            <a:endParaRPr/>
          </a:p>
        </p:txBody>
      </p:sp>
      <p:sp>
        <p:nvSpPr>
          <p:cNvPr id="293" name="Google Shape;293;p9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2-Personen-Team, Walking Skeleton bis M2 — vieles ist Ziel-Bild und für den MVP optional.</a:t>
            </a:r>
            <a:endParaRPr/>
          </a:p>
        </p:txBody>
      </p:sp>
      <p:sp>
        <p:nvSpPr>
          <p:cNvPr id="294" name="Google Shape;294;p9"/>
          <p:cNvSpPr/>
          <p:nvPr/>
        </p:nvSpPr>
        <p:spPr>
          <a:xfrm>
            <a:off x="502920" y="1691640"/>
            <a:ext cx="2194560" cy="411480"/>
          </a:xfrm>
          <a:prstGeom prst="roundRect">
            <a:avLst>
              <a:gd fmla="val 16667" name="adj"/>
            </a:avLst>
          </a:prstGeom>
          <a:solidFill>
            <a:srgbClr val="16213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Komponente</a:t>
            </a:r>
            <a:endParaRPr/>
          </a:p>
        </p:txBody>
      </p:sp>
      <p:sp>
        <p:nvSpPr>
          <p:cNvPr id="295" name="Google Shape;295;p9"/>
          <p:cNvSpPr/>
          <p:nvPr/>
        </p:nvSpPr>
        <p:spPr>
          <a:xfrm>
            <a:off x="2697480" y="1691640"/>
            <a:ext cx="5212080" cy="411480"/>
          </a:xfrm>
          <a:prstGeom prst="roundRect">
            <a:avLst>
              <a:gd fmla="val 16667" name="adj"/>
            </a:avLst>
          </a:prstGeom>
          <a:solidFill>
            <a:srgbClr val="16213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Wofür</a:t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7909560" y="1691640"/>
            <a:ext cx="1188720" cy="411480"/>
          </a:xfrm>
          <a:prstGeom prst="roundRect">
            <a:avLst>
              <a:gd fmla="val 16667" name="adj"/>
            </a:avLst>
          </a:prstGeom>
          <a:solidFill>
            <a:srgbClr val="16213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MVP?</a:t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9098280" y="1691640"/>
            <a:ext cx="2377440" cy="411480"/>
          </a:xfrm>
          <a:prstGeom prst="roundRect">
            <a:avLst>
              <a:gd fmla="val 16667" name="adj"/>
            </a:avLst>
          </a:prstGeom>
          <a:solidFill>
            <a:srgbClr val="16213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Erklärung</a:t>
            </a:r>
            <a:endParaRPr/>
          </a:p>
        </p:txBody>
      </p:sp>
      <p:sp>
        <p:nvSpPr>
          <p:cNvPr id="298" name="Google Shape;298;p9"/>
          <p:cNvSpPr/>
          <p:nvPr/>
        </p:nvSpPr>
        <p:spPr>
          <a:xfrm>
            <a:off x="502920" y="2148840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FastAPI</a:t>
            </a:r>
            <a:endParaRPr/>
          </a:p>
        </p:txBody>
      </p:sp>
      <p:sp>
        <p:nvSpPr>
          <p:cNvPr id="299" name="Google Shape;299;p9"/>
          <p:cNvSpPr/>
          <p:nvPr/>
        </p:nvSpPr>
        <p:spPr>
          <a:xfrm>
            <a:off x="2697480" y="2148840"/>
            <a:ext cx="521208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REST-Endpunkte bereitstellen</a:t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7909560" y="2148840"/>
            <a:ext cx="1188720" cy="438912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9098280" y="2148840"/>
            <a:ext cx="237744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API-Technik</a:t>
            </a:r>
            <a:endParaRPr/>
          </a:p>
        </p:txBody>
      </p:sp>
      <p:sp>
        <p:nvSpPr>
          <p:cNvPr id="302" name="Google Shape;302;p9"/>
          <p:cNvSpPr/>
          <p:nvPr/>
        </p:nvSpPr>
        <p:spPr>
          <a:xfrm>
            <a:off x="502920" y="2624328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PostgreSQL</a:t>
            </a:r>
            <a:endParaRPr/>
          </a:p>
        </p:txBody>
      </p:sp>
      <p:sp>
        <p:nvSpPr>
          <p:cNvPr id="303" name="Google Shape;303;p9"/>
          <p:cNvSpPr/>
          <p:nvPr/>
        </p:nvSpPr>
        <p:spPr>
          <a:xfrm>
            <a:off x="2697480" y="2624328"/>
            <a:ext cx="5212080" cy="438912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Konzepte · Priorisierung · audit_log</a:t>
            </a:r>
            <a:endParaRPr/>
          </a:p>
        </p:txBody>
      </p:sp>
      <p:sp>
        <p:nvSpPr>
          <p:cNvPr id="304" name="Google Shape;304;p9"/>
          <p:cNvSpPr/>
          <p:nvPr/>
        </p:nvSpPr>
        <p:spPr>
          <a:xfrm>
            <a:off x="7909560" y="2624328"/>
            <a:ext cx="1188720" cy="438912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305" name="Google Shape;305;p9"/>
          <p:cNvSpPr/>
          <p:nvPr/>
        </p:nvSpPr>
        <p:spPr>
          <a:xfrm>
            <a:off x="9098280" y="2624328"/>
            <a:ext cx="2377440" cy="438912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geteilte DB</a:t>
            </a:r>
            <a:endParaRPr/>
          </a:p>
        </p:txBody>
      </p:sp>
      <p:sp>
        <p:nvSpPr>
          <p:cNvPr id="306" name="Google Shape;306;p9"/>
          <p:cNvSpPr/>
          <p:nvPr/>
        </p:nvSpPr>
        <p:spPr>
          <a:xfrm>
            <a:off x="502920" y="3099816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Claude</a:t>
            </a:r>
            <a:endParaRPr/>
          </a:p>
        </p:txBody>
      </p:sp>
      <p:sp>
        <p:nvSpPr>
          <p:cNvPr id="307" name="Google Shape;307;p9"/>
          <p:cNvSpPr/>
          <p:nvPr/>
        </p:nvSpPr>
        <p:spPr>
          <a:xfrm>
            <a:off x="2697480" y="3099816"/>
            <a:ext cx="521208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Analyse · Potenziale · Texte</a:t>
            </a:r>
            <a:endParaRPr/>
          </a:p>
        </p:txBody>
      </p:sp>
      <p:sp>
        <p:nvSpPr>
          <p:cNvPr id="308" name="Google Shape;308;p9"/>
          <p:cNvSpPr/>
          <p:nvPr/>
        </p:nvSpPr>
        <p:spPr>
          <a:xfrm>
            <a:off x="7909560" y="3099816"/>
            <a:ext cx="1188720" cy="438912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JA</a:t>
            </a:r>
            <a:endParaRPr/>
          </a:p>
        </p:txBody>
      </p:sp>
      <p:sp>
        <p:nvSpPr>
          <p:cNvPr id="309" name="Google Shape;309;p9"/>
          <p:cNvSpPr/>
          <p:nvPr/>
        </p:nvSpPr>
        <p:spPr>
          <a:xfrm>
            <a:off x="9098280" y="3099816"/>
            <a:ext cx="237744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Kern-Logik</a:t>
            </a:r>
            <a:endParaRPr/>
          </a:p>
        </p:txBody>
      </p:sp>
      <p:sp>
        <p:nvSpPr>
          <p:cNvPr id="310" name="Google Shape;310;p9"/>
          <p:cNvSpPr/>
          <p:nvPr/>
        </p:nvSpPr>
        <p:spPr>
          <a:xfrm>
            <a:off x="502920" y="3575304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n8n</a:t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2697480" y="3575304"/>
            <a:ext cx="5212080" cy="438912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Pipeline-Orchestrierung (dünn)</a:t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7909560" y="3575304"/>
            <a:ext cx="1188720" cy="438912"/>
          </a:xfrm>
          <a:prstGeom prst="roundRect">
            <a:avLst>
              <a:gd fmla="val 16667" name="adj"/>
            </a:avLst>
          </a:prstGeom>
          <a:solidFill>
            <a:srgbClr val="E67E22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optional</a:t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9098280" y="3575304"/>
            <a:ext cx="2377440" cy="438912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MVP: Python</a:t>
            </a:r>
            <a:endParaRPr/>
          </a:p>
        </p:txBody>
      </p:sp>
      <p:sp>
        <p:nvSpPr>
          <p:cNvPr id="314" name="Google Shape;314;p9"/>
          <p:cNvSpPr/>
          <p:nvPr/>
        </p:nvSpPr>
        <p:spPr>
          <a:xfrm>
            <a:off x="502920" y="4050792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Redis</a:t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2697480" y="4050792"/>
            <a:ext cx="521208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Event-Bus / LLM-Cache</a:t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7909560" y="4050792"/>
            <a:ext cx="118872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NEIN</a:t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9098280" y="4050792"/>
            <a:ext cx="237744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HTTP reicht</a:t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502920" y="4526280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Qdrant</a:t>
            </a:r>
            <a:endParaRPr/>
          </a:p>
        </p:txBody>
      </p:sp>
      <p:sp>
        <p:nvSpPr>
          <p:cNvPr id="319" name="Google Shape;319;p9"/>
          <p:cNvSpPr/>
          <p:nvPr/>
        </p:nvSpPr>
        <p:spPr>
          <a:xfrm>
            <a:off x="2697480" y="4526280"/>
            <a:ext cx="5212080" cy="438912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Vektor-DB</a:t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7909560" y="4526280"/>
            <a:ext cx="118872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NEIN</a:t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9098280" y="4526280"/>
            <a:ext cx="2377440" cy="438912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entfällt ganz</a:t>
            </a:r>
            <a:endParaRPr/>
          </a:p>
        </p:txBody>
      </p:sp>
      <p:sp>
        <p:nvSpPr>
          <p:cNvPr id="322" name="Google Shape;322;p9"/>
          <p:cNvSpPr/>
          <p:nvPr/>
        </p:nvSpPr>
        <p:spPr>
          <a:xfrm>
            <a:off x="502920" y="5001768"/>
            <a:ext cx="219456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Grafana/Loki</a:t>
            </a:r>
            <a:endParaRPr/>
          </a:p>
        </p:txBody>
      </p:sp>
      <p:sp>
        <p:nvSpPr>
          <p:cNvPr id="323" name="Google Shape;323;p9"/>
          <p:cNvSpPr/>
          <p:nvPr/>
        </p:nvSpPr>
        <p:spPr>
          <a:xfrm>
            <a:off x="2697480" y="5001768"/>
            <a:ext cx="521208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Observability / Kosten</a:t>
            </a:r>
            <a:endParaRPr/>
          </a:p>
        </p:txBody>
      </p:sp>
      <p:sp>
        <p:nvSpPr>
          <p:cNvPr id="324" name="Google Shape;324;p9"/>
          <p:cNvSpPr/>
          <p:nvPr/>
        </p:nvSpPr>
        <p:spPr>
          <a:xfrm>
            <a:off x="7909560" y="5001768"/>
            <a:ext cx="1188720" cy="438912"/>
          </a:xfrm>
          <a:prstGeom prst="roundRect">
            <a:avLst>
              <a:gd fmla="val 16667" name="adj"/>
            </a:avLst>
          </a:prstGeom>
          <a:solidFill>
            <a:srgbClr val="C0392B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NEIN</a:t>
            </a:r>
            <a:endParaRPr/>
          </a:p>
        </p:txBody>
      </p:sp>
      <p:sp>
        <p:nvSpPr>
          <p:cNvPr id="325" name="Google Shape;325;p9"/>
          <p:cNvSpPr/>
          <p:nvPr/>
        </p:nvSpPr>
        <p:spPr>
          <a:xfrm>
            <a:off x="9098280" y="5001768"/>
            <a:ext cx="2377440" cy="43891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JSON-Logs</a:t>
            </a:r>
            <a:endParaRPr/>
          </a:p>
        </p:txBody>
      </p:sp>
      <p:sp>
        <p:nvSpPr>
          <p:cNvPr id="326" name="Google Shape;326;p9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BC2 — Strategic Advisor · Systemarchitektur v2</a:t>
            </a:r>
            <a:endParaRPr/>
          </a:p>
        </p:txBody>
      </p:sp>
      <p:sp>
        <p:nvSpPr>
          <p:cNvPr id="327" name="Google Shape;327;p9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F4C8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10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7 · TECH-ENTSCHEIDUNGEN</a:t>
            </a:r>
            <a:endParaRPr/>
          </a:p>
        </p:txBody>
      </p:sp>
      <p:sp>
        <p:nvSpPr>
          <p:cNvPr id="335" name="Google Shape;335;p10"/>
          <p:cNvSpPr txBox="1"/>
          <p:nvPr/>
        </p:nvSpPr>
        <p:spPr>
          <a:xfrm>
            <a:off x="502920" y="384048"/>
            <a:ext cx="11155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n8n vs. LangChain </a:t>
            </a: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vs. </a:t>
            </a: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Plain Python </a:t>
            </a:r>
            <a:r>
              <a:rPr b="1" lang="en-US" sz="25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? -&gt; Entscheidung noch offen</a:t>
            </a:r>
            <a:endParaRPr/>
          </a:p>
        </p:txBody>
      </p:sp>
      <p:sp>
        <p:nvSpPr>
          <p:cNvPr id="336" name="Google Shape;336;p10"/>
          <p:cNvSpPr/>
          <p:nvPr/>
        </p:nvSpPr>
        <p:spPr>
          <a:xfrm>
            <a:off x="502920" y="1371600"/>
            <a:ext cx="548640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129C9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0"/>
          <p:cNvSpPr txBox="1"/>
          <p:nvPr/>
        </p:nvSpPr>
        <p:spPr>
          <a:xfrm>
            <a:off x="731520" y="1508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129C9C"/>
                </a:solidFill>
                <a:latin typeface="Calibri"/>
                <a:ea typeface="Calibri"/>
                <a:cs typeface="Calibri"/>
                <a:sym typeface="Calibri"/>
              </a:rPr>
              <a:t>n8n  (Low-Code, visuell)</a:t>
            </a:r>
            <a:endParaRPr/>
          </a:p>
        </p:txBody>
      </p:sp>
      <p:sp>
        <p:nvSpPr>
          <p:cNvPr id="338" name="Google Shape;338;p10"/>
          <p:cNvSpPr txBox="1"/>
          <p:nvPr/>
        </p:nvSpPr>
        <p:spPr>
          <a:xfrm>
            <a:off x="731520" y="1965960"/>
            <a:ext cx="5029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 Connectors, Retry, Trigger out-of-the-box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 gut für LINEARE Abläufe (genau unser Fall)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 Workflow als versioniertes JSON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– komplexe Logik wird unübersichtlich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– Unit-Tests (DoD ≥70 %) kaum möglich</a:t>
            </a:r>
            <a:endParaRPr/>
          </a:p>
        </p:txBody>
      </p:sp>
      <p:sp>
        <p:nvSpPr>
          <p:cNvPr id="339" name="Google Shape;339;p10"/>
          <p:cNvSpPr/>
          <p:nvPr/>
        </p:nvSpPr>
        <p:spPr>
          <a:xfrm>
            <a:off x="6217920" y="1371600"/>
            <a:ext cx="5486400" cy="23774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9050">
            <a:solidFill>
              <a:srgbClr val="6C3AD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 txBox="1"/>
          <p:nvPr/>
        </p:nvSpPr>
        <p:spPr>
          <a:xfrm>
            <a:off x="6446520" y="1508760"/>
            <a:ext cx="5029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6C3AD6"/>
                </a:solidFill>
                <a:latin typeface="Calibri"/>
                <a:ea typeface="Calibri"/>
                <a:cs typeface="Calibri"/>
                <a:sym typeface="Calibri"/>
              </a:rPr>
              <a:t>LangChain / LangGraph  (Code-First)</a:t>
            </a:r>
            <a:endParaRPr/>
          </a:p>
        </p:txBody>
      </p:sp>
      <p:sp>
        <p:nvSpPr>
          <p:cNvPr id="341" name="Google Shape;341;p10"/>
          <p:cNvSpPr txBox="1"/>
          <p:nvPr/>
        </p:nvSpPr>
        <p:spPr>
          <a:xfrm>
            <a:off x="6446520" y="1965960"/>
            <a:ext cx="5029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 stark bei komplexen Agenten-Loops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+ Tool-Use, volle Testbarkeit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– mehr Boilerplate, kein visuelles Bild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– für unseren LINEAREN Ablauf evtl. Overkill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10"/>
          <p:cNvSpPr/>
          <p:nvPr/>
        </p:nvSpPr>
        <p:spPr>
          <a:xfrm>
            <a:off x="502920" y="3977639"/>
            <a:ext cx="11201400" cy="914400"/>
          </a:xfrm>
          <a:prstGeom prst="roundRect">
            <a:avLst>
              <a:gd fmla="val 16667" name="adj"/>
            </a:avLst>
          </a:prstGeom>
          <a:solidFill>
            <a:srgbClr val="E4F3EA"/>
          </a:solidFill>
          <a:ln cap="flat" cmpd="sng" w="9525">
            <a:solidFill>
              <a:srgbClr val="1E88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n8n nur als dünner Orchestrator (Trigger, Claude-Call, Retry) — die echte Logik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(Potenzial-Erkennung, Value, Validierung) in getesteten Python-Modulen. Würde BC2 später agentisch: LangGraph statt n8n.</a:t>
            </a:r>
            <a:endParaRPr/>
          </a:p>
        </p:txBody>
      </p:sp>
      <p:sp>
        <p:nvSpPr>
          <p:cNvPr id="343" name="Google Shape;343;p10"/>
          <p:cNvSpPr/>
          <p:nvPr/>
        </p:nvSpPr>
        <p:spPr>
          <a:xfrm>
            <a:off x="502920" y="5074920"/>
            <a:ext cx="11201400" cy="96012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Warum getrennt?  Value/ROI deterministisch in Python = reproduzierbar &amp; testbar (Unit-Tests gegen Mock-Profil).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Das LLM (Claude) liefert nur die qualitative Beschreibung &amp; Impact-Einordnung — nicht die Zahlen.</a:t>
            </a:r>
            <a:endParaRPr/>
          </a:p>
        </p:txBody>
      </p:sp>
      <p:sp>
        <p:nvSpPr>
          <p:cNvPr id="344" name="Google Shape;344;p10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BC2 — Strategic Advisor · Systemarchitektur v2</a:t>
            </a:r>
            <a:endParaRPr/>
          </a:p>
        </p:txBody>
      </p:sp>
      <p:sp>
        <p:nvSpPr>
          <p:cNvPr id="345" name="Google Shape;345;p10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E885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1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2E86D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1"/>
          <p:cNvSpPr txBox="1"/>
          <p:nvPr/>
        </p:nvSpPr>
        <p:spPr>
          <a:xfrm>
            <a:off x="502920" y="146304"/>
            <a:ext cx="10972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BFD9F2"/>
                </a:solidFill>
                <a:latin typeface="Calibri"/>
                <a:ea typeface="Calibri"/>
                <a:cs typeface="Calibri"/>
                <a:sym typeface="Calibri"/>
              </a:rPr>
              <a:t>8 · AP-MAPPING</a:t>
            </a:r>
            <a:endParaRPr/>
          </a:p>
        </p:txBody>
      </p:sp>
      <p:sp>
        <p:nvSpPr>
          <p:cNvPr id="353" name="Google Shape;353;p11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Architektur ↔ Arbeitspakete &amp; Lieferung</a:t>
            </a:r>
            <a:endParaRPr/>
          </a:p>
        </p:txBody>
      </p:sp>
      <p:sp>
        <p:nvSpPr>
          <p:cNvPr id="354" name="Google Shape;354;p11"/>
          <p:cNvSpPr/>
          <p:nvPr/>
        </p:nvSpPr>
        <p:spPr>
          <a:xfrm>
            <a:off x="502920" y="1554480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/>
          </a:p>
        </p:txBody>
      </p:sp>
      <p:sp>
        <p:nvSpPr>
          <p:cNvPr id="355" name="Google Shape;355;p11"/>
          <p:cNvSpPr/>
          <p:nvPr/>
        </p:nvSpPr>
        <p:spPr>
          <a:xfrm>
            <a:off x="1874519" y="1554480"/>
            <a:ext cx="5120640" cy="457200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Architektur-Baustein</a:t>
            </a:r>
            <a:endParaRPr/>
          </a:p>
        </p:txBody>
      </p:sp>
      <p:sp>
        <p:nvSpPr>
          <p:cNvPr id="356" name="Google Shape;356;p11"/>
          <p:cNvSpPr/>
          <p:nvPr/>
        </p:nvSpPr>
        <p:spPr>
          <a:xfrm>
            <a:off x="7086600" y="1554480"/>
            <a:ext cx="4617720" cy="457200"/>
          </a:xfrm>
          <a:prstGeom prst="roundRect">
            <a:avLst>
              <a:gd fmla="val 16667" name="adj"/>
            </a:avLst>
          </a:prstGeom>
          <a:solidFill>
            <a:srgbClr val="1E885E"/>
          </a:solidFill>
          <a:ln>
            <a:noFill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Liefergegenstand</a:t>
            </a:r>
            <a:endParaRPr/>
          </a:p>
        </p:txBody>
      </p:sp>
      <p:sp>
        <p:nvSpPr>
          <p:cNvPr id="357" name="Google Shape;357;p11"/>
          <p:cNvSpPr/>
          <p:nvPr/>
        </p:nvSpPr>
        <p:spPr>
          <a:xfrm>
            <a:off x="502920" y="2066544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 2.1</a:t>
            </a:r>
            <a:endParaRPr/>
          </a:p>
        </p:txBody>
      </p:sp>
      <p:sp>
        <p:nvSpPr>
          <p:cNvPr id="358" name="Google Shape;358;p11"/>
          <p:cNvSpPr/>
          <p:nvPr/>
        </p:nvSpPr>
        <p:spPr>
          <a:xfrm>
            <a:off x="1874519" y="2066544"/>
            <a:ext cx="51206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Schnittstellen-Contract (Schemata)</a:t>
            </a:r>
            <a:endParaRPr/>
          </a:p>
        </p:txBody>
      </p:sp>
      <p:sp>
        <p:nvSpPr>
          <p:cNvPr id="359" name="Google Shape;359;p11"/>
          <p:cNvSpPr/>
          <p:nvPr/>
        </p:nvSpPr>
        <p:spPr>
          <a:xfrm>
            <a:off x="7086600" y="2066544"/>
            <a:ext cx="461772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konzept/priorisierung.schema.json</a:t>
            </a:r>
            <a:endParaRPr/>
          </a:p>
        </p:txBody>
      </p:sp>
      <p:sp>
        <p:nvSpPr>
          <p:cNvPr id="360" name="Google Shape;360;p11"/>
          <p:cNvSpPr/>
          <p:nvPr/>
        </p:nvSpPr>
        <p:spPr>
          <a:xfrm>
            <a:off x="502920" y="2569464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 2.2</a:t>
            </a:r>
            <a:endParaRPr/>
          </a:p>
        </p:txBody>
      </p:sp>
      <p:sp>
        <p:nvSpPr>
          <p:cNvPr id="361" name="Google Shape;361;p11"/>
          <p:cNvSpPr/>
          <p:nvPr/>
        </p:nvSpPr>
        <p:spPr>
          <a:xfrm>
            <a:off x="1874519" y="2569464"/>
            <a:ext cx="512064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Potenzial-Erkennung (LLM)</a:t>
            </a:r>
            <a:endParaRPr/>
          </a:p>
        </p:txBody>
      </p:sp>
      <p:sp>
        <p:nvSpPr>
          <p:cNvPr id="362" name="Google Shape;362;p11"/>
          <p:cNvSpPr/>
          <p:nvPr/>
        </p:nvSpPr>
        <p:spPr>
          <a:xfrm>
            <a:off x="7086600" y="2569464"/>
            <a:ext cx="461772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erkannte Potenziale (Teil 2)</a:t>
            </a:r>
            <a:endParaRPr/>
          </a:p>
        </p:txBody>
      </p:sp>
      <p:sp>
        <p:nvSpPr>
          <p:cNvPr id="363" name="Google Shape;363;p11"/>
          <p:cNvSpPr/>
          <p:nvPr/>
        </p:nvSpPr>
        <p:spPr>
          <a:xfrm>
            <a:off x="502920" y="3072384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 2.3</a:t>
            </a:r>
            <a:endParaRPr/>
          </a:p>
        </p:txBody>
      </p:sp>
      <p:sp>
        <p:nvSpPr>
          <p:cNvPr id="364" name="Google Shape;364;p11"/>
          <p:cNvSpPr/>
          <p:nvPr/>
        </p:nvSpPr>
        <p:spPr>
          <a:xfrm>
            <a:off x="1874519" y="3072384"/>
            <a:ext cx="51206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Value-/ROI-Berechnung</a:t>
            </a:r>
            <a:endParaRPr/>
          </a:p>
        </p:txBody>
      </p:sp>
      <p:sp>
        <p:nvSpPr>
          <p:cNvPr id="365" name="Google Shape;365;p11"/>
          <p:cNvSpPr/>
          <p:nvPr/>
        </p:nvSpPr>
        <p:spPr>
          <a:xfrm>
            <a:off x="7086600" y="3072384"/>
            <a:ext cx="461772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Kostenschätzung (Teil 3)</a:t>
            </a:r>
            <a:endParaRPr/>
          </a:p>
        </p:txBody>
      </p:sp>
      <p:sp>
        <p:nvSpPr>
          <p:cNvPr id="366" name="Google Shape;366;p11"/>
          <p:cNvSpPr/>
          <p:nvPr/>
        </p:nvSpPr>
        <p:spPr>
          <a:xfrm>
            <a:off x="502920" y="3575304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 2.4</a:t>
            </a:r>
            <a:endParaRPr/>
          </a:p>
        </p:txBody>
      </p:sp>
      <p:sp>
        <p:nvSpPr>
          <p:cNvPr id="367" name="Google Shape;367;p11"/>
          <p:cNvSpPr/>
          <p:nvPr/>
        </p:nvSpPr>
        <p:spPr>
          <a:xfrm>
            <a:off x="1874519" y="3575304"/>
            <a:ext cx="512064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Situations-Analyse + Präsentations-Generator</a:t>
            </a:r>
            <a:endParaRPr/>
          </a:p>
        </p:txBody>
      </p:sp>
      <p:sp>
        <p:nvSpPr>
          <p:cNvPr id="368" name="Google Shape;368;p11"/>
          <p:cNvSpPr/>
          <p:nvPr/>
        </p:nvSpPr>
        <p:spPr>
          <a:xfrm>
            <a:off x="7086600" y="3575304"/>
            <a:ext cx="461772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Ausgangslage (Teil 1) + Gesamt-Deck</a:t>
            </a:r>
            <a:endParaRPr/>
          </a:p>
        </p:txBody>
      </p:sp>
      <p:sp>
        <p:nvSpPr>
          <p:cNvPr id="369" name="Google Shape;369;p11"/>
          <p:cNvSpPr/>
          <p:nvPr/>
        </p:nvSpPr>
        <p:spPr>
          <a:xfrm>
            <a:off x="502920" y="4078224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 2.5</a:t>
            </a:r>
            <a:endParaRPr/>
          </a:p>
        </p:txBody>
      </p:sp>
      <p:sp>
        <p:nvSpPr>
          <p:cNvPr id="370" name="Google Shape;370;p11"/>
          <p:cNvSpPr/>
          <p:nvPr/>
        </p:nvSpPr>
        <p:spPr>
          <a:xfrm>
            <a:off x="1874519" y="4078224"/>
            <a:ext cx="51206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Priorisierung (Komplexität × Impact)</a:t>
            </a:r>
            <a:endParaRPr/>
          </a:p>
        </p:txBody>
      </p:sp>
      <p:sp>
        <p:nvSpPr>
          <p:cNvPr id="371" name="Google Shape;371;p11"/>
          <p:cNvSpPr/>
          <p:nvPr/>
        </p:nvSpPr>
        <p:spPr>
          <a:xfrm>
            <a:off x="7086600" y="4078224"/>
            <a:ext cx="461772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L2-02 Prozesspriorisierung</a:t>
            </a:r>
            <a:endParaRPr/>
          </a:p>
        </p:txBody>
      </p:sp>
      <p:sp>
        <p:nvSpPr>
          <p:cNvPr id="372" name="Google Shape;372;p11"/>
          <p:cNvSpPr/>
          <p:nvPr/>
        </p:nvSpPr>
        <p:spPr>
          <a:xfrm>
            <a:off x="502920" y="4581144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 2.6</a:t>
            </a:r>
            <a:endParaRPr/>
          </a:p>
        </p:txBody>
      </p:sp>
      <p:sp>
        <p:nvSpPr>
          <p:cNvPr id="373" name="Google Shape;373;p11"/>
          <p:cNvSpPr/>
          <p:nvPr/>
        </p:nvSpPr>
        <p:spPr>
          <a:xfrm>
            <a:off x="1874519" y="4581144"/>
            <a:ext cx="512064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Gate-1-Dashboard (HitL)</a:t>
            </a:r>
            <a:endParaRPr/>
          </a:p>
        </p:txBody>
      </p:sp>
      <p:sp>
        <p:nvSpPr>
          <p:cNvPr id="374" name="Google Shape;374;p11"/>
          <p:cNvSpPr/>
          <p:nvPr/>
        </p:nvSpPr>
        <p:spPr>
          <a:xfrm>
            <a:off x="7086600" y="4581144"/>
            <a:ext cx="461772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L2-04 Gate-1-Dashboard</a:t>
            </a:r>
            <a:endParaRPr/>
          </a:p>
        </p:txBody>
      </p:sp>
      <p:sp>
        <p:nvSpPr>
          <p:cNvPr id="375" name="Google Shape;375;p11"/>
          <p:cNvSpPr/>
          <p:nvPr/>
        </p:nvSpPr>
        <p:spPr>
          <a:xfrm>
            <a:off x="502920" y="5084064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 2.7</a:t>
            </a:r>
            <a:endParaRPr/>
          </a:p>
        </p:txBody>
      </p:sp>
      <p:sp>
        <p:nvSpPr>
          <p:cNvPr id="376" name="Google Shape;376;p11"/>
          <p:cNvSpPr/>
          <p:nvPr/>
        </p:nvSpPr>
        <p:spPr>
          <a:xfrm>
            <a:off x="1874519" y="5084064"/>
            <a:ext cx="512064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End-to-End-Pipeline</a:t>
            </a:r>
            <a:endParaRPr/>
          </a:p>
        </p:txBody>
      </p:sp>
      <p:sp>
        <p:nvSpPr>
          <p:cNvPr id="377" name="Google Shape;377;p11"/>
          <p:cNvSpPr/>
          <p:nvPr/>
        </p:nvSpPr>
        <p:spPr>
          <a:xfrm>
            <a:off x="7086600" y="5084064"/>
            <a:ext cx="4617720" cy="457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verifizierte Übergabe BC1→BC2→BC3</a:t>
            </a:r>
            <a:endParaRPr/>
          </a:p>
        </p:txBody>
      </p:sp>
      <p:sp>
        <p:nvSpPr>
          <p:cNvPr id="378" name="Google Shape;378;p11"/>
          <p:cNvSpPr/>
          <p:nvPr/>
        </p:nvSpPr>
        <p:spPr>
          <a:xfrm>
            <a:off x="502920" y="5586984"/>
            <a:ext cx="128016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AP 2.8</a:t>
            </a:r>
            <a:endParaRPr/>
          </a:p>
        </p:txBody>
      </p:sp>
      <p:sp>
        <p:nvSpPr>
          <p:cNvPr id="379" name="Google Shape;379;p11"/>
          <p:cNvSpPr/>
          <p:nvPr/>
        </p:nvSpPr>
        <p:spPr>
          <a:xfrm>
            <a:off x="1874519" y="5586984"/>
            <a:ext cx="512064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Präsentations-Output</a:t>
            </a:r>
            <a:endParaRPr/>
          </a:p>
        </p:txBody>
      </p:sp>
      <p:sp>
        <p:nvSpPr>
          <p:cNvPr id="380" name="Google Shape;380;p11"/>
          <p:cNvSpPr/>
          <p:nvPr/>
        </p:nvSpPr>
        <p:spPr>
          <a:xfrm>
            <a:off x="7086600" y="5586984"/>
            <a:ext cx="4617720" cy="457200"/>
          </a:xfrm>
          <a:prstGeom prst="roundRect">
            <a:avLst>
              <a:gd fmla="val 16667" name="adj"/>
            </a:avLst>
          </a:prstGeom>
          <a:solidFill>
            <a:srgbClr val="ECF2F9"/>
          </a:solidFill>
          <a:ln cap="flat" cmpd="sng" w="9525">
            <a:solidFill>
              <a:srgbClr val="9FB3C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275" lIns="54850" spcFirstLastPara="1" rIns="54850" wrap="square" tIns="182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L2-05 Ergebnis-Präsentation</a:t>
            </a:r>
            <a:endParaRPr/>
          </a:p>
        </p:txBody>
      </p:sp>
      <p:sp>
        <p:nvSpPr>
          <p:cNvPr id="381" name="Google Shape;381;p11"/>
          <p:cNvSpPr txBox="1"/>
          <p:nvPr/>
        </p:nvSpPr>
        <p:spPr>
          <a:xfrm>
            <a:off x="502920" y="6455664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BC2 — Strategic Advisor · Systemarchitektur v2</a:t>
            </a:r>
            <a:endParaRPr/>
          </a:p>
        </p:txBody>
      </p:sp>
      <p:sp>
        <p:nvSpPr>
          <p:cNvPr id="382" name="Google Shape;382;p11"/>
          <p:cNvSpPr txBox="1"/>
          <p:nvPr/>
        </p:nvSpPr>
        <p:spPr>
          <a:xfrm>
            <a:off x="11247120" y="6455664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5A6B7B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